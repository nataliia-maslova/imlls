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До fine-tuning</c:v>
                </c:pt>
              </c:strCache>
            </c:strRef>
          </c:tx>
          <c:spPr>
            <a:solidFill>
              <a:srgbClr val="90b4bc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EN</c:v>
                </c:pt>
                <c:pt idx="1">
                  <c:v>ES</c:v>
                </c:pt>
                <c:pt idx="2">
                  <c:v>KO</c:v>
                </c:pt>
                <c:pt idx="3">
                  <c:v>UK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42.21</c:v>
                </c:pt>
                <c:pt idx="1">
                  <c:v>0.06</c:v>
                </c:pt>
                <c:pt idx="2">
                  <c:v>0.1</c:v>
                </c:pt>
                <c:pt idx="3">
                  <c:v>0.08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Після fine-tuning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1000" strike="noStrike" u="none">
                    <a:solidFill>
                      <a:srgbClr val="fffff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EN</c:v>
                </c:pt>
                <c:pt idx="1">
                  <c:v>ES</c:v>
                </c:pt>
                <c:pt idx="2">
                  <c:v>KO</c:v>
                </c:pt>
                <c:pt idx="3">
                  <c:v>UK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58.74</c:v>
                </c:pt>
                <c:pt idx="1">
                  <c:v>60.38</c:v>
                </c:pt>
                <c:pt idx="2">
                  <c:v>45.35</c:v>
                </c:pt>
                <c:pt idx="3">
                  <c:v>84.86</c:v>
                </c:pt>
              </c:numCache>
            </c:numRef>
          </c:val>
        </c:ser>
        <c:gapWidth val="150"/>
        <c:overlap val="0"/>
        <c:axId val="13744048"/>
        <c:axId val="27448112"/>
      </c:barChart>
      <c:catAx>
        <c:axId val="137440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ffffff"/>
                </a:solidFill>
                <a:uFillTx/>
                <a:latin typeface="Arial"/>
              </a:defRPr>
            </a:pPr>
          </a:p>
        </c:txPr>
        <c:crossAx val="27448112"/>
        <c:crosses val="autoZero"/>
        <c:auto val="1"/>
        <c:lblAlgn val="ctr"/>
        <c:lblOffset val="100"/>
        <c:noMultiLvlLbl val="0"/>
      </c:catAx>
      <c:valAx>
        <c:axId val="27448112"/>
        <c:scaling>
          <c:orientation val="minMax"/>
        </c:scaling>
        <c:delete val="0"/>
        <c:axPos val="l"/>
        <c:majorGridlines>
          <c:spPr>
            <a:ln w="6480">
              <a:solidFill>
                <a:srgbClr val="2a3f5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90b4bc"/>
                </a:solidFill>
                <a:uFillTx/>
                <a:latin typeface="Arial"/>
              </a:defRPr>
            </a:pPr>
          </a:p>
        </c:txPr>
        <c:crossAx val="1374404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132b3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Середня схожість</c:v>
                </c:pt>
              </c:strCache>
            </c:strRef>
          </c:tx>
          <c:spPr>
            <a:solidFill>
              <a:srgbClr val="028090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trike="noStrike" u="none">
                    <a:solidFill>
                      <a:srgbClr val="0f22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
Read</c:v>
                </c:pt>
                <c:pt idx="1">
                  <c:v>2
Listen</c:v>
                </c:pt>
                <c:pt idx="2">
                  <c:v>3
Match</c:v>
                </c:pt>
                <c:pt idx="3">
                  <c:v>4
Speed
Read</c:v>
                </c:pt>
                <c:pt idx="4">
                  <c:v>5
Shadow</c:v>
                </c:pt>
                <c:pt idx="5">
                  <c:v>6
Transl.</c:v>
                </c:pt>
                <c:pt idx="6">
                  <c:v>7
Speed
Transl.</c:v>
                </c:pt>
                <c:pt idx="7">
                  <c:v>8
Create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0.729</c:v>
                </c:pt>
                <c:pt idx="1">
                  <c:v>0.308</c:v>
                </c:pt>
                <c:pt idx="2">
                  <c:v>0.961</c:v>
                </c:pt>
                <c:pt idx="3">
                  <c:v>0.744</c:v>
                </c:pt>
                <c:pt idx="4">
                  <c:v>0.386</c:v>
                </c:pt>
                <c:pt idx="5">
                  <c:v>0.78</c:v>
                </c:pt>
                <c:pt idx="6">
                  <c:v>0.774</c:v>
                </c:pt>
                <c:pt idx="7">
                  <c:v>0.771</c:v>
                </c:pt>
              </c:numCache>
            </c:numRef>
          </c:val>
        </c:ser>
        <c:gapWidth val="150"/>
        <c:overlap val="0"/>
        <c:axId val="43969236"/>
        <c:axId val="90507824"/>
      </c:barChart>
      <c:catAx>
        <c:axId val="439692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f2233"/>
                </a:solidFill>
                <a:uFillTx/>
                <a:latin typeface="Arial"/>
              </a:defRPr>
            </a:pPr>
          </a:p>
        </c:txPr>
        <c:crossAx val="90507824"/>
        <c:crosses val="autoZero"/>
        <c:auto val="1"/>
        <c:lblAlgn val="ctr"/>
        <c:lblOffset val="100"/>
        <c:noMultiLvlLbl val="0"/>
      </c:catAx>
      <c:valAx>
        <c:axId val="90507824"/>
        <c:scaling>
          <c:orientation val="minMax"/>
          <c:max val="1"/>
          <c:min val="0"/>
        </c:scaling>
        <c:delete val="0"/>
        <c:axPos val="l"/>
        <c:majorGridlines>
          <c:spPr>
            <a:ln w="6480">
              <a:solidFill>
                <a:srgbClr val="e0e8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4396923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trike="noStrike" u="none">
                    <a:solidFill>
                      <a:srgbClr val="0f2233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58</c:v>
                </c:pt>
                <c:pt idx="1">
                  <c:v>5</c:v>
                </c:pt>
                <c:pt idx="2">
                  <c:v>92</c:v>
                </c:pt>
                <c:pt idx="3">
                  <c:v>52</c:v>
                </c:pt>
                <c:pt idx="4">
                  <c:v>6</c:v>
                </c:pt>
                <c:pt idx="5">
                  <c:v>66</c:v>
                </c:pt>
                <c:pt idx="6">
                  <c:v>64</c:v>
                </c:pt>
                <c:pt idx="7">
                  <c:v>63</c:v>
                </c:pt>
              </c:numCache>
            </c:numRef>
          </c:val>
        </c:ser>
        <c:gapWidth val="150"/>
        <c:overlap val="0"/>
        <c:axId val="43889598"/>
        <c:axId val="76875933"/>
      </c:barChart>
      <c:catAx>
        <c:axId val="4388959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f2233"/>
                </a:solidFill>
                <a:uFillTx/>
                <a:latin typeface="Arial"/>
              </a:defRPr>
            </a:pPr>
          </a:p>
        </c:txPr>
        <c:crossAx val="76875933"/>
        <c:crosses val="autoZero"/>
        <c:auto val="1"/>
        <c:lblAlgn val="ctr"/>
        <c:lblOffset val="100"/>
        <c:noMultiLvlLbl val="0"/>
      </c:catAx>
      <c:valAx>
        <c:axId val="76875933"/>
        <c:scaling>
          <c:orientation val="minMax"/>
          <c:max val="100"/>
        </c:scaling>
        <c:delete val="0"/>
        <c:axPos val="l"/>
        <c:majorGridlines>
          <c:spPr>
            <a:ln w="6480">
              <a:solidFill>
                <a:srgbClr val="e0e8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64748b"/>
                </a:solidFill>
                <a:uFillTx/>
                <a:latin typeface="Arial"/>
              </a:defRPr>
            </a:pPr>
          </a:p>
        </c:txPr>
        <c:crossAx val="4388959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desplazar la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editar el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formato de las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notas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40D315-3168-4350-8A4B-DF4B17EDA37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747965-8AAE-414D-B6D7-8F78A6308A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F847D7-B863-44E9-ABFC-0E7142B7A7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0CB900-BD78-461B-A2FB-516C754E24E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C02586-0695-46A5-8824-09C8AABD04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4B0B64-147E-4C49-A150-396B7F826B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21D48E-031B-4888-913C-D101D88EA6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526DA6-DAFD-40E8-8E3D-22D1BA4A7C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BC99AB-2D78-40B7-8183-53CFEA2909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AB95B0-2552-452B-9AB7-1BF721F03E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C422AF-4CF6-47A6-96C2-F60FAB873C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0EF33A-2B6F-4D85-A15B-039A4BFFD0E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1DAA4E-FF7F-4DAC-BE6E-2E9FCBACB7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70A6A4-4286-4126-A36F-5CE03992377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7B0505-0F38-43FA-82B3-0CF9F87C7E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4728A-E7C9-401D-8398-3B833B0F4C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2EB74C-2792-4D86-B5E2-2E3E8B67B3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505EE8-71C7-4711-8F6F-CE00D170E6C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DB888-D1F5-4D48-BDD1-694EB51C8D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D2574F-6F89-4BEE-A60F-F98F5687271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367B83-798A-41D8-9FE9-9391B10BA4E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editar el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formato del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texto de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64520" y="0"/>
            <a:ext cx="54360" cy="5143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02920" y="50292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IMLLS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02920" y="1417320"/>
            <a:ext cx="8046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Інтелектуальний тренажер іноземних мов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 функцією крос-мовної перевірки вимови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через модель Whisper</a:t>
            </a:r>
            <a:endParaRPr b="0" lang="en-US" sz="1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502920" y="2944440"/>
            <a:ext cx="7863480" cy="27000"/>
          </a:xfrm>
          <a:prstGeom prst="rect">
            <a:avLst/>
          </a:prstGeom>
          <a:solidFill>
            <a:srgbClr val="90b4bc"/>
          </a:solidFill>
          <a:ln w="1270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02920" y="30632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Виконала: 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Маслова Наталія Стефанівна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502920" y="345636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4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Науковий керівник: </a:t>
            </a: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канд. фіз - мат. наук, доц. Філімонова Тетяна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02920" y="385884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Презентація дипломної роботи в Neoversity на здобуття ступеня Master of Science in Computer Science    |   </a:t>
            </a: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2026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Актуальність теми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20040" y="1051560"/>
            <a:ext cx="4114440" cy="155412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484560" y="11613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[1]  Попит на мовні навички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484560" y="15271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92% роботодавців вважають знання іноземної мови конкурентною перевагою (EF EPI 2023)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320040" y="2834640"/>
            <a:ext cx="4114440" cy="155412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484560" y="294444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[2]  Цифровізація навчання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84560" y="33102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CALL-системи (Duolingo, Babbel) охоплюють &gt;600 млн користувачів, але не перевіряють вимову крос-мовно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4754880" y="1051560"/>
            <a:ext cx="4114440" cy="155412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9"/>
          <p:cNvSpPr/>
          <p:nvPr/>
        </p:nvSpPr>
        <p:spPr>
          <a:xfrm>
            <a:off x="4919400" y="116136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[3]  Прогалина ринку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4919400" y="15271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Жодна безкоштовна система не поєднує: STT-перевірку вимови + GEC + адаптивний алгоритм для 4 мов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4754880" y="2834640"/>
            <a:ext cx="4114440" cy="155412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4919400" y="294444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[4]  Доступність моделей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3"/>
          <p:cNvSpPr/>
          <p:nvPr/>
        </p:nvSpPr>
        <p:spPr>
          <a:xfrm>
            <a:off x="4919400" y="33102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Whisper (OpenAI, 2022) і T5/mT5 (Google) дозволяють реалізувати це без спеціалізованого обладнання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Мета, об'єкт та предмет дослідження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320040" y="960120"/>
            <a:ext cx="91080" cy="1051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48640" y="97848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МЕТА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48640" y="130752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Розробити інтелектуальний веб-тренажер для самостійного вивчення іноземних мов із крос-мовною перевіркою вимови, граматичним коректором і адаптивною системою навчання.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320040" y="2258640"/>
            <a:ext cx="91080" cy="1051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48640" y="227700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ОБ'ЄКТ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48640" y="26060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Процес автоматизованого навчання іноземних мов із застосуванням нейромережевих методів розпізнавання та виправлення помилок.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320040" y="3557160"/>
            <a:ext cx="91080" cy="1051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548640" y="35751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ПРЕДМЕТ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548640" y="390456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Методи крос-мовного STT (Whisper), seq2seq GEC (T5/mT5), семантичної оцінки (SBERT) та адаптивної маршрутизації (RandomForest) у контексті CALL-систем.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Постановка задачі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347400" y="95112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347400" y="951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749880" y="91440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Реалізувати 8-кроковий дидактичний алгоритм для 4 мов (EN, UK, ES, KO)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6"/>
          <p:cNvSpPr/>
          <p:nvPr/>
        </p:nvSpPr>
        <p:spPr>
          <a:xfrm>
            <a:off x="347400" y="161856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347400" y="1618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749880" y="158184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Інтегрувати Whisper для крос-мовної перевірки вимови (STT → порівняння тексту)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347400" y="228600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347400" y="2286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749880" y="224928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Навчити seq2seq GEC-моделі (T5-small / mT5-small) на корпусах Lang-8, UA-GEC, JFLEG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347400" y="295344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347400" y="2953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749880" y="291708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Реалізувати адаптивну маршрутизацію (RandomForest, 3 маршрути) після ≥25 взаємодій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347400" y="362088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347400" y="36208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749880" y="358452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Провести статистичний аналіз ефективності (Welch t-test, BLEU, pass rate, cosine sim)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8"/>
          <p:cNvSpPr/>
          <p:nvPr/>
        </p:nvSpPr>
        <p:spPr>
          <a:xfrm>
            <a:off x="347400" y="4288680"/>
            <a:ext cx="292320" cy="292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9"/>
          <p:cNvSpPr/>
          <p:nvPr/>
        </p:nvSpPr>
        <p:spPr>
          <a:xfrm>
            <a:off x="347400" y="4288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0"/>
          <p:cNvSpPr/>
          <p:nvPr/>
        </p:nvSpPr>
        <p:spPr>
          <a:xfrm>
            <a:off x="749880" y="4251960"/>
            <a:ext cx="804636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Розгорнути застосунок як веб-сервіс (Streamlit) з логуванням у Google Sheets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Архітектура системи (3-tier)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320040" y="960120"/>
            <a:ext cx="8503560" cy="959760"/>
          </a:xfrm>
          <a:prstGeom prst="rect">
            <a:avLst/>
          </a:prstGeom>
          <a:solidFill>
            <a:srgbClr val="132b3f"/>
          </a:solidFill>
          <a:ln w="1905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320040" y="960120"/>
            <a:ext cx="2377080" cy="959760"/>
          </a:xfrm>
          <a:prstGeom prst="rect">
            <a:avLst/>
          </a:prstGeom>
          <a:solidFill>
            <a:srgbClr val="104951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411480" y="106992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PRESENTATION LAYER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11480" y="143568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Streamlit UI — кнопки, аудіо, поля вводу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2834640" y="1197720"/>
            <a:ext cx="585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app.py   ·   grammar.py   ·   reading_app.py   ·   custom_app.py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320040" y="2176200"/>
            <a:ext cx="8503560" cy="959760"/>
          </a:xfrm>
          <a:prstGeom prst="rect">
            <a:avLst/>
          </a:prstGeom>
          <a:solidFill>
            <a:srgbClr val="132b3f"/>
          </a:solidFill>
          <a:ln w="190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320040" y="2176200"/>
            <a:ext cx="2377080" cy="959760"/>
          </a:xfrm>
          <a:prstGeom prst="rect">
            <a:avLst/>
          </a:prstGeom>
          <a:solidFill>
            <a:srgbClr val="103c4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411480" y="228600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ENGINE LAYER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411480" y="265176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ML-моделі та бізнес-логіка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2834640" y="2414160"/>
            <a:ext cx="585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stt.py (Whisper)   ·   gec.py (T5/mT5)   ·   scorer.py (RapidFuzz+SBERT)   ·   adaptive.py (RandomForest)   ·   gamification.py / logger.py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320040" y="3383280"/>
            <a:ext cx="8503560" cy="959760"/>
          </a:xfrm>
          <a:prstGeom prst="rect">
            <a:avLst/>
          </a:prstGeom>
          <a:solidFill>
            <a:srgbClr val="132b3f"/>
          </a:solidFill>
          <a:ln w="1905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320040" y="3383280"/>
            <a:ext cx="2377080" cy="959760"/>
          </a:xfrm>
          <a:prstGeom prst="rect">
            <a:avLst/>
          </a:prstGeom>
          <a:solidFill>
            <a:srgbClr val="404a3c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411480" y="3493080"/>
            <a:ext cx="2194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DATA LAYER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411480" y="3858840"/>
            <a:ext cx="2194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Зберігання даних та логів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2834640" y="3620880"/>
            <a:ext cx="5851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imlls_database.xlsx   ·   vocabulary.xlsx   ·   logs/ (CSV)   ·   Google Sheets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7"/>
          <p:cNvSpPr/>
          <p:nvPr/>
        </p:nvSpPr>
        <p:spPr>
          <a:xfrm>
            <a:off x="4297680" y="1920240"/>
            <a:ext cx="360" cy="246600"/>
          </a:xfrm>
          <a:prstGeom prst="line">
            <a:avLst/>
          </a:prstGeom>
          <a:ln w="19050">
            <a:solidFill>
              <a:srgbClr val="90b4b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8"/>
          <p:cNvSpPr/>
          <p:nvPr/>
        </p:nvSpPr>
        <p:spPr>
          <a:xfrm>
            <a:off x="4297680" y="3136320"/>
            <a:ext cx="360" cy="246960"/>
          </a:xfrm>
          <a:prstGeom prst="line">
            <a:avLst/>
          </a:prstGeom>
          <a:ln w="19050">
            <a:solidFill>
              <a:srgbClr val="90b4b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8-кроковий дидактичний алгоритм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274320" y="96012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"/>
          <p:cNvSpPr/>
          <p:nvPr/>
        </p:nvSpPr>
        <p:spPr>
          <a:xfrm>
            <a:off x="365760" y="1161360"/>
            <a:ext cx="365400" cy="365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365760" y="1161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841320" y="105156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Read Aloud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841320" y="13806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Рецепція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8"/>
          <p:cNvSpPr/>
          <p:nvPr/>
        </p:nvSpPr>
        <p:spPr>
          <a:xfrm>
            <a:off x="274320" y="193860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9"/>
          <p:cNvSpPr/>
          <p:nvPr/>
        </p:nvSpPr>
        <p:spPr>
          <a:xfrm>
            <a:off x="365760" y="2139840"/>
            <a:ext cx="365400" cy="365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365760" y="2139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841320" y="203004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Listen &amp; Repeat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841320" y="2359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Рецепція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3"/>
          <p:cNvSpPr/>
          <p:nvPr/>
        </p:nvSpPr>
        <p:spPr>
          <a:xfrm>
            <a:off x="274320" y="291708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5e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4"/>
          <p:cNvSpPr/>
          <p:nvPr/>
        </p:nvSpPr>
        <p:spPr>
          <a:xfrm>
            <a:off x="365760" y="3117960"/>
            <a:ext cx="365400" cy="365400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365760" y="31179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6"/>
          <p:cNvSpPr/>
          <p:nvPr/>
        </p:nvSpPr>
        <p:spPr>
          <a:xfrm>
            <a:off x="841320" y="300852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Matching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7"/>
          <p:cNvSpPr/>
          <p:nvPr/>
        </p:nvSpPr>
        <p:spPr>
          <a:xfrm>
            <a:off x="841320" y="33375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Розпізнавання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8"/>
          <p:cNvSpPr/>
          <p:nvPr/>
        </p:nvSpPr>
        <p:spPr>
          <a:xfrm>
            <a:off x="274320" y="389520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5e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365760" y="4096440"/>
            <a:ext cx="365400" cy="365400"/>
          </a:xfrm>
          <a:prstGeom prst="ellipse">
            <a:avLst/>
          </a:prstGeom>
          <a:solidFill>
            <a:srgbClr val="1a7a5e"/>
          </a:solidFill>
          <a:ln w="12700">
            <a:solidFill>
              <a:srgbClr val="1a7a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0"/>
          <p:cNvSpPr/>
          <p:nvPr/>
        </p:nvSpPr>
        <p:spPr>
          <a:xfrm>
            <a:off x="365760" y="4096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1"/>
          <p:cNvSpPr/>
          <p:nvPr/>
        </p:nvSpPr>
        <p:spPr>
          <a:xfrm>
            <a:off x="841320" y="398664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Speed Read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841320" y="4316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a7a5e"/>
                </a:solidFill>
                <a:effectLst/>
                <a:uFillTx/>
                <a:latin typeface="Calibri"/>
                <a:ea typeface="Calibri"/>
              </a:rPr>
              <a:t>Автоматизація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4754880" y="96012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8b0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4"/>
          <p:cNvSpPr/>
          <p:nvPr/>
        </p:nvSpPr>
        <p:spPr>
          <a:xfrm>
            <a:off x="4846320" y="1161360"/>
            <a:ext cx="365400" cy="365400"/>
          </a:xfrm>
          <a:prstGeom prst="ellipse">
            <a:avLst/>
          </a:prstGeom>
          <a:solidFill>
            <a:srgbClr val="c68b00"/>
          </a:solidFill>
          <a:ln w="12700">
            <a:solidFill>
              <a:srgbClr val="c68b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5"/>
          <p:cNvSpPr/>
          <p:nvPr/>
        </p:nvSpPr>
        <p:spPr>
          <a:xfrm>
            <a:off x="4846320" y="11613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5321880" y="105156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Shadow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7"/>
          <p:cNvSpPr/>
          <p:nvPr/>
        </p:nvSpPr>
        <p:spPr>
          <a:xfrm>
            <a:off x="5321880" y="13806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c68b00"/>
                </a:solidFill>
                <a:effectLst/>
                <a:uFillTx/>
                <a:latin typeface="Calibri"/>
                <a:ea typeface="Calibri"/>
              </a:rPr>
              <a:t>Просодія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8"/>
          <p:cNvSpPr/>
          <p:nvPr/>
        </p:nvSpPr>
        <p:spPr>
          <a:xfrm>
            <a:off x="4754880" y="193860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580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9"/>
          <p:cNvSpPr/>
          <p:nvPr/>
        </p:nvSpPr>
        <p:spPr>
          <a:xfrm>
            <a:off x="4846320" y="2139840"/>
            <a:ext cx="365400" cy="365400"/>
          </a:xfrm>
          <a:prstGeom prst="ellipse">
            <a:avLst/>
          </a:prstGeom>
          <a:solidFill>
            <a:srgbClr val="b85800"/>
          </a:solidFill>
          <a:ln w="12700">
            <a:solidFill>
              <a:srgbClr val="b858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4846320" y="21398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1"/>
          <p:cNvSpPr/>
          <p:nvPr/>
        </p:nvSpPr>
        <p:spPr>
          <a:xfrm>
            <a:off x="5321880" y="203004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Translate Aloud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2"/>
          <p:cNvSpPr/>
          <p:nvPr/>
        </p:nvSpPr>
        <p:spPr>
          <a:xfrm>
            <a:off x="5321880" y="235908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85800"/>
                </a:solidFill>
                <a:effectLst/>
                <a:uFillTx/>
                <a:latin typeface="Calibri"/>
                <a:ea typeface="Calibri"/>
              </a:rPr>
              <a:t>Продукція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3"/>
          <p:cNvSpPr/>
          <p:nvPr/>
        </p:nvSpPr>
        <p:spPr>
          <a:xfrm>
            <a:off x="4754880" y="291708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3040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4"/>
          <p:cNvSpPr/>
          <p:nvPr/>
        </p:nvSpPr>
        <p:spPr>
          <a:xfrm>
            <a:off x="4846320" y="3117960"/>
            <a:ext cx="365400" cy="365400"/>
          </a:xfrm>
          <a:prstGeom prst="ellipse">
            <a:avLst/>
          </a:prstGeom>
          <a:solidFill>
            <a:srgbClr val="b83040"/>
          </a:solidFill>
          <a:ln w="12700">
            <a:solidFill>
              <a:srgbClr val="b83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5"/>
          <p:cNvSpPr/>
          <p:nvPr/>
        </p:nvSpPr>
        <p:spPr>
          <a:xfrm>
            <a:off x="4846320" y="311796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6"/>
          <p:cNvSpPr/>
          <p:nvPr/>
        </p:nvSpPr>
        <p:spPr>
          <a:xfrm>
            <a:off x="5321880" y="300852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Speed Translate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7"/>
          <p:cNvSpPr/>
          <p:nvPr/>
        </p:nvSpPr>
        <p:spPr>
          <a:xfrm>
            <a:off x="5321880" y="333756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83040"/>
                </a:solidFill>
                <a:effectLst/>
                <a:uFillTx/>
                <a:latin typeface="Calibri"/>
                <a:ea typeface="Calibri"/>
              </a:rPr>
              <a:t>Флюентність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38"/>
          <p:cNvSpPr/>
          <p:nvPr/>
        </p:nvSpPr>
        <p:spPr>
          <a:xfrm>
            <a:off x="4754880" y="3895200"/>
            <a:ext cx="42058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9"/>
          <p:cNvSpPr/>
          <p:nvPr/>
        </p:nvSpPr>
        <p:spPr>
          <a:xfrm>
            <a:off x="4846320" y="4096440"/>
            <a:ext cx="365400" cy="36540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0"/>
          <p:cNvSpPr/>
          <p:nvPr/>
        </p:nvSpPr>
        <p:spPr>
          <a:xfrm>
            <a:off x="4846320" y="40964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41"/>
          <p:cNvSpPr/>
          <p:nvPr/>
        </p:nvSpPr>
        <p:spPr>
          <a:xfrm>
            <a:off x="5321880" y="3986640"/>
            <a:ext cx="3474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Create Sentences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2"/>
          <p:cNvSpPr/>
          <p:nvPr/>
        </p:nvSpPr>
        <p:spPr>
          <a:xfrm>
            <a:off x="5321880" y="4316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7b2fbe"/>
                </a:solidFill>
                <a:effectLst/>
                <a:uFillTx/>
                <a:latin typeface="Calibri"/>
                <a:ea typeface="Calibri"/>
              </a:rPr>
              <a:t>Творчість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3"/>
          <p:cNvSpPr/>
          <p:nvPr/>
        </p:nvSpPr>
        <p:spPr>
          <a:xfrm>
            <a:off x="274320" y="47365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Теоретична основа: гіпотеза вхідного потоку Крашена (Input Hypothesis, 1985)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Технологічний стек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"/>
          <p:cNvSpPr/>
          <p:nvPr/>
        </p:nvSpPr>
        <p:spPr>
          <a:xfrm>
            <a:off x="228600" y="960120"/>
            <a:ext cx="2057040" cy="37944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338400" y="102420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UI / Фронтенд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338400" y="15087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Streamlit ≥ 1.31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"/>
          <p:cNvSpPr/>
          <p:nvPr/>
        </p:nvSpPr>
        <p:spPr>
          <a:xfrm>
            <a:off x="338400" y="21945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3.11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338400" y="28803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Google Sheets API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7"/>
          <p:cNvSpPr/>
          <p:nvPr/>
        </p:nvSpPr>
        <p:spPr>
          <a:xfrm>
            <a:off x="2441520" y="960120"/>
            <a:ext cx="2057040" cy="37944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8"/>
          <p:cNvSpPr/>
          <p:nvPr/>
        </p:nvSpPr>
        <p:spPr>
          <a:xfrm>
            <a:off x="2551320" y="102420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ML / Моделі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9"/>
          <p:cNvSpPr/>
          <p:nvPr/>
        </p:nvSpPr>
        <p:spPr>
          <a:xfrm>
            <a:off x="2551320" y="15087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Whisper (OpenAI)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0"/>
          <p:cNvSpPr/>
          <p:nvPr/>
        </p:nvSpPr>
        <p:spPr>
          <a:xfrm>
            <a:off x="2551320" y="21945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T5-small / mT5-small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1"/>
          <p:cNvSpPr/>
          <p:nvPr/>
        </p:nvSpPr>
        <p:spPr>
          <a:xfrm>
            <a:off x="2551320" y="28803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Sentence-BERT (MiniLM-L12)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2"/>
          <p:cNvSpPr/>
          <p:nvPr/>
        </p:nvSpPr>
        <p:spPr>
          <a:xfrm>
            <a:off x="2551320" y="35661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RandomForest (sklearn)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3"/>
          <p:cNvSpPr/>
          <p:nvPr/>
        </p:nvSpPr>
        <p:spPr>
          <a:xfrm>
            <a:off x="4654440" y="960120"/>
            <a:ext cx="2057040" cy="3794400"/>
          </a:xfrm>
          <a:prstGeom prst="rect">
            <a:avLst/>
          </a:prstGeom>
          <a:solidFill>
            <a:srgbClr val="132b3f"/>
          </a:solidFill>
          <a:ln w="1524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4763880" y="102420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NLP / Оцінка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4763880" y="15087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HuggingFace Transformers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6"/>
          <p:cNvSpPr/>
          <p:nvPr/>
        </p:nvSpPr>
        <p:spPr>
          <a:xfrm>
            <a:off x="4763880" y="21945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RapidFuzz (Levenshtein)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7"/>
          <p:cNvSpPr/>
          <p:nvPr/>
        </p:nvSpPr>
        <p:spPr>
          <a:xfrm>
            <a:off x="4763880" y="28803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sacreBLEU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8"/>
          <p:cNvSpPr/>
          <p:nvPr/>
        </p:nvSpPr>
        <p:spPr>
          <a:xfrm>
            <a:off x="4763880" y="35661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Adafactor optimizer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9"/>
          <p:cNvSpPr/>
          <p:nvPr/>
        </p:nvSpPr>
        <p:spPr>
          <a:xfrm>
            <a:off x="6867000" y="960120"/>
            <a:ext cx="2057040" cy="3794400"/>
          </a:xfrm>
          <a:prstGeom prst="rect">
            <a:avLst/>
          </a:prstGeom>
          <a:solidFill>
            <a:srgbClr val="132b3f"/>
          </a:solidFill>
          <a:ln w="1524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0"/>
          <p:cNvSpPr/>
          <p:nvPr/>
        </p:nvSpPr>
        <p:spPr>
          <a:xfrm>
            <a:off x="6976800" y="102420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Дані / Корпуси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1"/>
          <p:cNvSpPr/>
          <p:nvPr/>
        </p:nvSpPr>
        <p:spPr>
          <a:xfrm>
            <a:off x="6976800" y="15087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Lang-8 corpus (995K+ пар)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2"/>
          <p:cNvSpPr/>
          <p:nvPr/>
        </p:nvSpPr>
        <p:spPr>
          <a:xfrm>
            <a:off x="6976800" y="21945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UA-GEC (Grammarly, 2022)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3"/>
          <p:cNvSpPr/>
          <p:nvPr/>
        </p:nvSpPr>
        <p:spPr>
          <a:xfrm>
            <a:off x="6976800" y="28803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JFLEG (en eval)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4"/>
          <p:cNvSpPr/>
          <p:nvPr/>
        </p:nvSpPr>
        <p:spPr>
          <a:xfrm>
            <a:off x="6976800" y="356616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▸  </a:t>
            </a: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Reservoir sampling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Крос-мовна перевірка вимови — Whisper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274320" y="1188720"/>
            <a:ext cx="1508400" cy="822600"/>
          </a:xfrm>
          <a:prstGeom prst="rect">
            <a:avLst/>
          </a:prstGeom>
          <a:solidFill>
            <a:srgbClr val="132b3f"/>
          </a:solidFill>
          <a:ln w="1524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274320" y="1188720"/>
            <a:ext cx="15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Аудіо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учня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1783080" y="1600200"/>
            <a:ext cx="457200" cy="360"/>
          </a:xfrm>
          <a:prstGeom prst="line">
            <a:avLst/>
          </a:prstGeom>
          <a:ln w="1905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5"/>
          <p:cNvSpPr/>
          <p:nvPr/>
        </p:nvSpPr>
        <p:spPr>
          <a:xfrm>
            <a:off x="1965960" y="1188720"/>
            <a:ext cx="1508400" cy="8226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1965960" y="1188720"/>
            <a:ext cx="15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Log-Mel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Spectrogram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3474720" y="1600200"/>
            <a:ext cx="457200" cy="360"/>
          </a:xfrm>
          <a:prstGeom prst="line">
            <a:avLst/>
          </a:prstGeom>
          <a:ln w="1905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3657600" y="1188720"/>
            <a:ext cx="1508400" cy="8226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3657600" y="1188720"/>
            <a:ext cx="15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Whisper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Encoder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0"/>
          <p:cNvSpPr/>
          <p:nvPr/>
        </p:nvSpPr>
        <p:spPr>
          <a:xfrm>
            <a:off x="5166360" y="1600200"/>
            <a:ext cx="457200" cy="360"/>
          </a:xfrm>
          <a:prstGeom prst="line">
            <a:avLst/>
          </a:prstGeom>
          <a:ln w="1905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5349240" y="1188720"/>
            <a:ext cx="1508400" cy="8226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5349240" y="1188720"/>
            <a:ext cx="15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Whisper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Decoder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13"/>
          <p:cNvSpPr/>
          <p:nvPr/>
        </p:nvSpPr>
        <p:spPr>
          <a:xfrm>
            <a:off x="6858000" y="1600200"/>
            <a:ext cx="457200" cy="360"/>
          </a:xfrm>
          <a:prstGeom prst="line">
            <a:avLst/>
          </a:prstGeom>
          <a:ln w="1905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4"/>
          <p:cNvSpPr/>
          <p:nvPr/>
        </p:nvSpPr>
        <p:spPr>
          <a:xfrm>
            <a:off x="7040880" y="1188720"/>
            <a:ext cx="1508400" cy="822600"/>
          </a:xfrm>
          <a:prstGeom prst="rect">
            <a:avLst/>
          </a:prstGeom>
          <a:solidFill>
            <a:srgbClr val="132b3f"/>
          </a:solidFill>
          <a:ln w="1524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7040880" y="1188720"/>
            <a:ext cx="1508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Транскрипт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тексту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6"/>
          <p:cNvSpPr/>
          <p:nvPr/>
        </p:nvSpPr>
        <p:spPr>
          <a:xfrm>
            <a:off x="274320" y="2286000"/>
            <a:ext cx="8320680" cy="1096920"/>
          </a:xfrm>
          <a:prstGeom prst="rect">
            <a:avLst/>
          </a:prstGeom>
          <a:solidFill>
            <a:srgbClr val="132b3f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457200" y="2359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RapidFuzz token_sort_ratio  (Levenshtein)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457200" y="265176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score = RapidFuzz(normalize(user_audio_text), normalize(expected)) / 100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4c430"/>
                </a:solidFill>
                <a:effectLst/>
                <a:uFillTx/>
                <a:latin typeface="Consolas"/>
                <a:ea typeface="Consolas"/>
              </a:rPr>
              <a:t>passed = score ≥ 0.82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411480" y="354780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Підтримує ~99 мов без дооснащення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411480" y="395928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Модель: whisper-tiny (39M параметрів) — CPU-friendly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411480" y="43707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✓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GOP (фонемна метрика) не застосована — потребує phone-level моделей для кожної мови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Граматичний коректор — T5 / mT5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365760" y="84132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Уніфікований seq2seq: задача кодується як текст → текст   |   Prefix: "grammar: {text}"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274320" y="1298520"/>
            <a:ext cx="41112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329040" y="1298520"/>
            <a:ext cx="30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1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740520" y="1298520"/>
            <a:ext cx="91404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795600" y="129852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7"/>
          <p:cNvSpPr/>
          <p:nvPr/>
        </p:nvSpPr>
        <p:spPr>
          <a:xfrm>
            <a:off x="1710000" y="1298520"/>
            <a:ext cx="191988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1764720" y="129852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Модель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3684960" y="1298520"/>
            <a:ext cx="100548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3740040" y="129852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Розмір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1"/>
          <p:cNvSpPr/>
          <p:nvPr/>
        </p:nvSpPr>
        <p:spPr>
          <a:xfrm>
            <a:off x="4745880" y="1298520"/>
            <a:ext cx="173700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4800600" y="1298520"/>
            <a:ext cx="162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Датасет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3"/>
          <p:cNvSpPr/>
          <p:nvPr/>
        </p:nvSpPr>
        <p:spPr>
          <a:xfrm>
            <a:off x="6537960" y="1298520"/>
            <a:ext cx="100548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6592680" y="129852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Пари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7598520" y="1298520"/>
            <a:ext cx="959760" cy="502560"/>
          </a:xfrm>
          <a:prstGeom prst="rect">
            <a:avLst/>
          </a:prstGeom>
          <a:solidFill>
            <a:srgbClr val="1a6678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7653600" y="1298520"/>
            <a:ext cx="84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Loss₀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274320" y="1865520"/>
            <a:ext cx="41112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329040" y="1865520"/>
            <a:ext cx="30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740520" y="1865520"/>
            <a:ext cx="91404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795600" y="186552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English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1"/>
          <p:cNvSpPr/>
          <p:nvPr/>
        </p:nvSpPr>
        <p:spPr>
          <a:xfrm>
            <a:off x="1710000" y="1865520"/>
            <a:ext cx="19198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2"/>
          <p:cNvSpPr/>
          <p:nvPr/>
        </p:nvSpPr>
        <p:spPr>
          <a:xfrm>
            <a:off x="1764720" y="186552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T5-small (61M)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3"/>
          <p:cNvSpPr/>
          <p:nvPr/>
        </p:nvSpPr>
        <p:spPr>
          <a:xfrm>
            <a:off x="3684960" y="1865520"/>
            <a:ext cx="10054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4"/>
          <p:cNvSpPr/>
          <p:nvPr/>
        </p:nvSpPr>
        <p:spPr>
          <a:xfrm>
            <a:off x="3740040" y="186552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244 MB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5"/>
          <p:cNvSpPr/>
          <p:nvPr/>
        </p:nvSpPr>
        <p:spPr>
          <a:xfrm>
            <a:off x="4745880" y="1865520"/>
            <a:ext cx="173700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6"/>
          <p:cNvSpPr/>
          <p:nvPr/>
        </p:nvSpPr>
        <p:spPr>
          <a:xfrm>
            <a:off x="4800600" y="1865520"/>
            <a:ext cx="162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Lang-8 + JFLEG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7"/>
          <p:cNvSpPr/>
          <p:nvPr/>
        </p:nvSpPr>
        <p:spPr>
          <a:xfrm>
            <a:off x="6537960" y="1865520"/>
            <a:ext cx="10054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8"/>
          <p:cNvSpPr/>
          <p:nvPr/>
        </p:nvSpPr>
        <p:spPr>
          <a:xfrm>
            <a:off x="6592680" y="186552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57 000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9"/>
          <p:cNvSpPr/>
          <p:nvPr/>
        </p:nvSpPr>
        <p:spPr>
          <a:xfrm>
            <a:off x="7598520" y="1865520"/>
            <a:ext cx="95976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0"/>
          <p:cNvSpPr/>
          <p:nvPr/>
        </p:nvSpPr>
        <p:spPr>
          <a:xfrm>
            <a:off x="7653600" y="1865520"/>
            <a:ext cx="84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1"/>
          <p:cNvSpPr/>
          <p:nvPr/>
        </p:nvSpPr>
        <p:spPr>
          <a:xfrm>
            <a:off x="274320" y="2432160"/>
            <a:ext cx="41112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2"/>
          <p:cNvSpPr/>
          <p:nvPr/>
        </p:nvSpPr>
        <p:spPr>
          <a:xfrm>
            <a:off x="329040" y="2432160"/>
            <a:ext cx="30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3"/>
          <p:cNvSpPr/>
          <p:nvPr/>
        </p:nvSpPr>
        <p:spPr>
          <a:xfrm>
            <a:off x="740520" y="2432160"/>
            <a:ext cx="91404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4"/>
          <p:cNvSpPr/>
          <p:nvPr/>
        </p:nvSpPr>
        <p:spPr>
          <a:xfrm>
            <a:off x="795600" y="243216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Español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5"/>
          <p:cNvSpPr/>
          <p:nvPr/>
        </p:nvSpPr>
        <p:spPr>
          <a:xfrm>
            <a:off x="1710000" y="2432160"/>
            <a:ext cx="19198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6"/>
          <p:cNvSpPr/>
          <p:nvPr/>
        </p:nvSpPr>
        <p:spPr>
          <a:xfrm>
            <a:off x="1764720" y="2432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mT5-small (300M)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7"/>
          <p:cNvSpPr/>
          <p:nvPr/>
        </p:nvSpPr>
        <p:spPr>
          <a:xfrm>
            <a:off x="3684960" y="2432160"/>
            <a:ext cx="10054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8"/>
          <p:cNvSpPr/>
          <p:nvPr/>
        </p:nvSpPr>
        <p:spPr>
          <a:xfrm>
            <a:off x="3740040" y="2432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1 217 MB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39"/>
          <p:cNvSpPr/>
          <p:nvPr/>
        </p:nvSpPr>
        <p:spPr>
          <a:xfrm>
            <a:off x="4745880" y="2432160"/>
            <a:ext cx="173700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0"/>
          <p:cNvSpPr/>
          <p:nvPr/>
        </p:nvSpPr>
        <p:spPr>
          <a:xfrm>
            <a:off x="4800600" y="2432160"/>
            <a:ext cx="162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1"/>
          <p:cNvSpPr/>
          <p:nvPr/>
        </p:nvSpPr>
        <p:spPr>
          <a:xfrm>
            <a:off x="6537960" y="2432160"/>
            <a:ext cx="10054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2"/>
          <p:cNvSpPr/>
          <p:nvPr/>
        </p:nvSpPr>
        <p:spPr>
          <a:xfrm>
            <a:off x="6592680" y="2432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3"/>
          <p:cNvSpPr/>
          <p:nvPr/>
        </p:nvSpPr>
        <p:spPr>
          <a:xfrm>
            <a:off x="7598520" y="2432160"/>
            <a:ext cx="95976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44"/>
          <p:cNvSpPr/>
          <p:nvPr/>
        </p:nvSpPr>
        <p:spPr>
          <a:xfrm>
            <a:off x="7653600" y="2432160"/>
            <a:ext cx="84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30.77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5"/>
          <p:cNvSpPr/>
          <p:nvPr/>
        </p:nvSpPr>
        <p:spPr>
          <a:xfrm>
            <a:off x="274320" y="2999160"/>
            <a:ext cx="41112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46"/>
          <p:cNvSpPr/>
          <p:nvPr/>
        </p:nvSpPr>
        <p:spPr>
          <a:xfrm>
            <a:off x="329040" y="2999160"/>
            <a:ext cx="30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47"/>
          <p:cNvSpPr/>
          <p:nvPr/>
        </p:nvSpPr>
        <p:spPr>
          <a:xfrm>
            <a:off x="740520" y="2999160"/>
            <a:ext cx="91404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48"/>
          <p:cNvSpPr/>
          <p:nvPr/>
        </p:nvSpPr>
        <p:spPr>
          <a:xfrm>
            <a:off x="795600" y="299916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한국어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9"/>
          <p:cNvSpPr/>
          <p:nvPr/>
        </p:nvSpPr>
        <p:spPr>
          <a:xfrm>
            <a:off x="1710000" y="2999160"/>
            <a:ext cx="19198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50"/>
          <p:cNvSpPr/>
          <p:nvPr/>
        </p:nvSpPr>
        <p:spPr>
          <a:xfrm>
            <a:off x="1764720" y="2999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mT5-small (300M)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1"/>
          <p:cNvSpPr/>
          <p:nvPr/>
        </p:nvSpPr>
        <p:spPr>
          <a:xfrm>
            <a:off x="3684960" y="2999160"/>
            <a:ext cx="10054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52"/>
          <p:cNvSpPr/>
          <p:nvPr/>
        </p:nvSpPr>
        <p:spPr>
          <a:xfrm>
            <a:off x="3740040" y="2999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1 217 MB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3"/>
          <p:cNvSpPr/>
          <p:nvPr/>
        </p:nvSpPr>
        <p:spPr>
          <a:xfrm>
            <a:off x="4745880" y="2999160"/>
            <a:ext cx="173700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54"/>
          <p:cNvSpPr/>
          <p:nvPr/>
        </p:nvSpPr>
        <p:spPr>
          <a:xfrm>
            <a:off x="4800600" y="2999160"/>
            <a:ext cx="162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55"/>
          <p:cNvSpPr/>
          <p:nvPr/>
        </p:nvSpPr>
        <p:spPr>
          <a:xfrm>
            <a:off x="6537960" y="2999160"/>
            <a:ext cx="100548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6"/>
          <p:cNvSpPr/>
          <p:nvPr/>
        </p:nvSpPr>
        <p:spPr>
          <a:xfrm>
            <a:off x="6592680" y="2999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57"/>
          <p:cNvSpPr/>
          <p:nvPr/>
        </p:nvSpPr>
        <p:spPr>
          <a:xfrm>
            <a:off x="7598520" y="2999160"/>
            <a:ext cx="959760" cy="502560"/>
          </a:xfrm>
          <a:prstGeom prst="rect">
            <a:avLst/>
          </a:prstGeom>
          <a:solidFill>
            <a:srgbClr val="0f2233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8"/>
          <p:cNvSpPr/>
          <p:nvPr/>
        </p:nvSpPr>
        <p:spPr>
          <a:xfrm>
            <a:off x="7653600" y="2999160"/>
            <a:ext cx="84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23.35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59"/>
          <p:cNvSpPr/>
          <p:nvPr/>
        </p:nvSpPr>
        <p:spPr>
          <a:xfrm>
            <a:off x="274320" y="3566160"/>
            <a:ext cx="41112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60"/>
          <p:cNvSpPr/>
          <p:nvPr/>
        </p:nvSpPr>
        <p:spPr>
          <a:xfrm>
            <a:off x="329040" y="3566160"/>
            <a:ext cx="30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61"/>
          <p:cNvSpPr/>
          <p:nvPr/>
        </p:nvSpPr>
        <p:spPr>
          <a:xfrm>
            <a:off x="740520" y="3566160"/>
            <a:ext cx="91404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2"/>
          <p:cNvSpPr/>
          <p:nvPr/>
        </p:nvSpPr>
        <p:spPr>
          <a:xfrm>
            <a:off x="795600" y="3566160"/>
            <a:ext cx="80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Укр.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3"/>
          <p:cNvSpPr/>
          <p:nvPr/>
        </p:nvSpPr>
        <p:spPr>
          <a:xfrm>
            <a:off x="1710000" y="3566160"/>
            <a:ext cx="19198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64"/>
          <p:cNvSpPr/>
          <p:nvPr/>
        </p:nvSpPr>
        <p:spPr>
          <a:xfrm>
            <a:off x="1764720" y="3566160"/>
            <a:ext cx="1810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mT5-small (300M)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65"/>
          <p:cNvSpPr/>
          <p:nvPr/>
        </p:nvSpPr>
        <p:spPr>
          <a:xfrm>
            <a:off x="3684960" y="3566160"/>
            <a:ext cx="10054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66"/>
          <p:cNvSpPr/>
          <p:nvPr/>
        </p:nvSpPr>
        <p:spPr>
          <a:xfrm>
            <a:off x="3740040" y="3566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1 217 MB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67"/>
          <p:cNvSpPr/>
          <p:nvPr/>
        </p:nvSpPr>
        <p:spPr>
          <a:xfrm>
            <a:off x="4745880" y="3566160"/>
            <a:ext cx="173700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68"/>
          <p:cNvSpPr/>
          <p:nvPr/>
        </p:nvSpPr>
        <p:spPr>
          <a:xfrm>
            <a:off x="4800600" y="3566160"/>
            <a:ext cx="1627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UA-GEC + CSV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9"/>
          <p:cNvSpPr/>
          <p:nvPr/>
        </p:nvSpPr>
        <p:spPr>
          <a:xfrm>
            <a:off x="6537960" y="3566160"/>
            <a:ext cx="100548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0"/>
          <p:cNvSpPr/>
          <p:nvPr/>
        </p:nvSpPr>
        <p:spPr>
          <a:xfrm>
            <a:off x="6592680" y="3566160"/>
            <a:ext cx="895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13 955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1"/>
          <p:cNvSpPr/>
          <p:nvPr/>
        </p:nvSpPr>
        <p:spPr>
          <a:xfrm>
            <a:off x="7598520" y="3566160"/>
            <a:ext cx="959760" cy="502560"/>
          </a:xfrm>
          <a:prstGeom prst="rect">
            <a:avLst/>
          </a:prstGeom>
          <a:solidFill>
            <a:srgbClr val="132b3f"/>
          </a:solidFill>
          <a:ln w="6350">
            <a:solidFill>
              <a:srgbClr val="257a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72"/>
          <p:cNvSpPr/>
          <p:nvPr/>
        </p:nvSpPr>
        <p:spPr>
          <a:xfrm>
            <a:off x="7653600" y="3566160"/>
            <a:ext cx="84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35.31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73"/>
          <p:cNvSpPr/>
          <p:nvPr/>
        </p:nvSpPr>
        <p:spPr>
          <a:xfrm>
            <a:off x="274320" y="4297680"/>
            <a:ext cx="8503560" cy="502560"/>
          </a:xfrm>
          <a:prstGeom prst="rect">
            <a:avLst/>
          </a:prstGeom>
          <a:solidFill>
            <a:srgbClr val="3d1515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74"/>
          <p:cNvSpPr/>
          <p:nvPr/>
        </p:nvSpPr>
        <p:spPr>
          <a:xfrm>
            <a:off x="384120" y="4316040"/>
            <a:ext cx="832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⚠  UK модель виключена з продакшну: BLEU=84.86, але лише 1/8 речень виправлено коректно — модель вивчила пунктуацію UA-GEC, а не морфологію учнів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Підготовка датасету — Lang-8 + UA-GEC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274320" y="914400"/>
            <a:ext cx="1416960" cy="685440"/>
          </a:xfrm>
          <a:prstGeom prst="rect">
            <a:avLst/>
          </a:prstGeom>
          <a:solidFill>
            <a:srgbClr val="07354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27432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JSON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169164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6"/>
          <p:cNvSpPr/>
          <p:nvPr/>
        </p:nvSpPr>
        <p:spPr>
          <a:xfrm>
            <a:off x="1828800" y="914400"/>
            <a:ext cx="1416960" cy="68544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182880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Парсинг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(мова + пари)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324612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3383280" y="914400"/>
            <a:ext cx="1416960" cy="68544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338328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Reservoir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Sampling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480060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2"/>
          <p:cNvSpPr/>
          <p:nvPr/>
        </p:nvSpPr>
        <p:spPr>
          <a:xfrm>
            <a:off x="4937760" y="914400"/>
            <a:ext cx="1416960" cy="685440"/>
          </a:xfrm>
          <a:prstGeom prst="rect">
            <a:avLst/>
          </a:prstGeom>
          <a:solidFill>
            <a:srgbClr val="125a68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493776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Дедупл.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Фільтрація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4"/>
          <p:cNvSpPr/>
          <p:nvPr/>
        </p:nvSpPr>
        <p:spPr>
          <a:xfrm>
            <a:off x="635508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6492240" y="914400"/>
            <a:ext cx="1416960" cy="685440"/>
          </a:xfrm>
          <a:prstGeom prst="rect">
            <a:avLst/>
          </a:prstGeom>
          <a:solidFill>
            <a:srgbClr val="257a8e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649224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Prefix +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Tokenize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7909560" y="1257120"/>
            <a:ext cx="13716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8"/>
          <p:cNvSpPr/>
          <p:nvPr/>
        </p:nvSpPr>
        <p:spPr>
          <a:xfrm>
            <a:off x="8046720" y="914400"/>
            <a:ext cx="1416960" cy="685440"/>
          </a:xfrm>
          <a:prstGeom prst="rect">
            <a:avLst/>
          </a:prstGeom>
          <a:solidFill>
            <a:srgbClr val="257a8e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8046720" y="914400"/>
            <a:ext cx="14169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Train 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Val split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20"/>
          <p:cNvSpPr/>
          <p:nvPr/>
        </p:nvSpPr>
        <p:spPr>
          <a:xfrm>
            <a:off x="274320" y="1737360"/>
            <a:ext cx="8503560" cy="749520"/>
          </a:xfrm>
          <a:prstGeom prst="rect">
            <a:avLst/>
          </a:prstGeom>
          <a:solidFill>
            <a:srgbClr val="e8f8f5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1"/>
          <p:cNvSpPr/>
          <p:nvPr/>
        </p:nvSpPr>
        <p:spPr>
          <a:xfrm>
            <a:off x="457200" y="17920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Reservoir Sampling (алгоритм Віттера, 1985)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457200" y="2066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Рівномірна вибірка k елементів за O(n) час, O(k) пам'ять — обов'язково при corpus EN ≈ 1M рядків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3"/>
          <p:cNvSpPr/>
          <p:nvPr/>
        </p:nvSpPr>
        <p:spPr>
          <a:xfrm>
            <a:off x="274320" y="2633400"/>
            <a:ext cx="63972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320040" y="263340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5"/>
          <p:cNvSpPr/>
          <p:nvPr/>
        </p:nvSpPr>
        <p:spPr>
          <a:xfrm>
            <a:off x="987480" y="2633400"/>
            <a:ext cx="191988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1033200" y="263340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Корпус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7"/>
          <p:cNvSpPr/>
          <p:nvPr/>
        </p:nvSpPr>
        <p:spPr>
          <a:xfrm>
            <a:off x="2980800" y="2633400"/>
            <a:ext cx="118836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8"/>
          <p:cNvSpPr/>
          <p:nvPr/>
        </p:nvSpPr>
        <p:spPr>
          <a:xfrm>
            <a:off x="3026520" y="263340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Загалом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9"/>
          <p:cNvSpPr/>
          <p:nvPr/>
        </p:nvSpPr>
        <p:spPr>
          <a:xfrm>
            <a:off x="4242960" y="2633400"/>
            <a:ext cx="109692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0"/>
          <p:cNvSpPr/>
          <p:nvPr/>
        </p:nvSpPr>
        <p:spPr>
          <a:xfrm>
            <a:off x="4288680" y="263340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Вибірка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1"/>
          <p:cNvSpPr/>
          <p:nvPr/>
        </p:nvSpPr>
        <p:spPr>
          <a:xfrm>
            <a:off x="5413320" y="2633400"/>
            <a:ext cx="109692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2"/>
          <p:cNvSpPr/>
          <p:nvPr/>
        </p:nvSpPr>
        <p:spPr>
          <a:xfrm>
            <a:off x="5459040" y="263340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Train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3"/>
          <p:cNvSpPr/>
          <p:nvPr/>
        </p:nvSpPr>
        <p:spPr>
          <a:xfrm>
            <a:off x="6583680" y="2633400"/>
            <a:ext cx="914040" cy="383760"/>
          </a:xfrm>
          <a:prstGeom prst="rect">
            <a:avLst/>
          </a:prstGeom>
          <a:solidFill>
            <a:srgbClr val="c0dce4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4"/>
          <p:cNvSpPr/>
          <p:nvPr/>
        </p:nvSpPr>
        <p:spPr>
          <a:xfrm>
            <a:off x="6629400" y="263340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Val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5"/>
          <p:cNvSpPr/>
          <p:nvPr/>
        </p:nvSpPr>
        <p:spPr>
          <a:xfrm>
            <a:off x="274320" y="3072240"/>
            <a:ext cx="6397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6"/>
          <p:cNvSpPr/>
          <p:nvPr/>
        </p:nvSpPr>
        <p:spPr>
          <a:xfrm>
            <a:off x="320040" y="307224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7"/>
          <p:cNvSpPr/>
          <p:nvPr/>
        </p:nvSpPr>
        <p:spPr>
          <a:xfrm>
            <a:off x="987480" y="3072240"/>
            <a:ext cx="191988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8"/>
          <p:cNvSpPr/>
          <p:nvPr/>
        </p:nvSpPr>
        <p:spPr>
          <a:xfrm>
            <a:off x="1033200" y="307224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 + JFLEG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9"/>
          <p:cNvSpPr/>
          <p:nvPr/>
        </p:nvSpPr>
        <p:spPr>
          <a:xfrm>
            <a:off x="2980800" y="3072240"/>
            <a:ext cx="118836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0"/>
          <p:cNvSpPr/>
          <p:nvPr/>
        </p:nvSpPr>
        <p:spPr>
          <a:xfrm>
            <a:off x="3026520" y="307224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995 863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1"/>
          <p:cNvSpPr/>
          <p:nvPr/>
        </p:nvSpPr>
        <p:spPr>
          <a:xfrm>
            <a:off x="4242960" y="3072240"/>
            <a:ext cx="10969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2"/>
          <p:cNvSpPr/>
          <p:nvPr/>
        </p:nvSpPr>
        <p:spPr>
          <a:xfrm>
            <a:off x="4288680" y="307224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60 000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3"/>
          <p:cNvSpPr/>
          <p:nvPr/>
        </p:nvSpPr>
        <p:spPr>
          <a:xfrm>
            <a:off x="5413320" y="3072240"/>
            <a:ext cx="10969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4"/>
          <p:cNvSpPr/>
          <p:nvPr/>
        </p:nvSpPr>
        <p:spPr>
          <a:xfrm>
            <a:off x="5459040" y="307224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57 000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45"/>
          <p:cNvSpPr/>
          <p:nvPr/>
        </p:nvSpPr>
        <p:spPr>
          <a:xfrm>
            <a:off x="6583680" y="3072240"/>
            <a:ext cx="91404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6"/>
          <p:cNvSpPr/>
          <p:nvPr/>
        </p:nvSpPr>
        <p:spPr>
          <a:xfrm>
            <a:off x="6629400" y="307224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7"/>
          <p:cNvSpPr/>
          <p:nvPr/>
        </p:nvSpPr>
        <p:spPr>
          <a:xfrm>
            <a:off x="274320" y="3511440"/>
            <a:ext cx="6397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8"/>
          <p:cNvSpPr/>
          <p:nvPr/>
        </p:nvSpPr>
        <p:spPr>
          <a:xfrm>
            <a:off x="320040" y="351144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9"/>
          <p:cNvSpPr/>
          <p:nvPr/>
        </p:nvSpPr>
        <p:spPr>
          <a:xfrm>
            <a:off x="987480" y="3511440"/>
            <a:ext cx="191988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0"/>
          <p:cNvSpPr/>
          <p:nvPr/>
        </p:nvSpPr>
        <p:spPr>
          <a:xfrm>
            <a:off x="1033200" y="351144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51"/>
          <p:cNvSpPr/>
          <p:nvPr/>
        </p:nvSpPr>
        <p:spPr>
          <a:xfrm>
            <a:off x="2980800" y="3511440"/>
            <a:ext cx="118836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52"/>
          <p:cNvSpPr/>
          <p:nvPr/>
        </p:nvSpPr>
        <p:spPr>
          <a:xfrm>
            <a:off x="3026520" y="351144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73 949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53"/>
          <p:cNvSpPr/>
          <p:nvPr/>
        </p:nvSpPr>
        <p:spPr>
          <a:xfrm>
            <a:off x="4242960" y="3511440"/>
            <a:ext cx="10969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4"/>
          <p:cNvSpPr/>
          <p:nvPr/>
        </p:nvSpPr>
        <p:spPr>
          <a:xfrm>
            <a:off x="4288680" y="351144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40 000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5"/>
          <p:cNvSpPr/>
          <p:nvPr/>
        </p:nvSpPr>
        <p:spPr>
          <a:xfrm>
            <a:off x="5413320" y="3511440"/>
            <a:ext cx="10969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6"/>
          <p:cNvSpPr/>
          <p:nvPr/>
        </p:nvSpPr>
        <p:spPr>
          <a:xfrm>
            <a:off x="5459040" y="351144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57"/>
          <p:cNvSpPr/>
          <p:nvPr/>
        </p:nvSpPr>
        <p:spPr>
          <a:xfrm>
            <a:off x="6583680" y="3511440"/>
            <a:ext cx="9140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8"/>
          <p:cNvSpPr/>
          <p:nvPr/>
        </p:nvSpPr>
        <p:spPr>
          <a:xfrm>
            <a:off x="6629400" y="351144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9"/>
          <p:cNvSpPr/>
          <p:nvPr/>
        </p:nvSpPr>
        <p:spPr>
          <a:xfrm>
            <a:off x="274320" y="3950280"/>
            <a:ext cx="6397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0"/>
          <p:cNvSpPr/>
          <p:nvPr/>
        </p:nvSpPr>
        <p:spPr>
          <a:xfrm>
            <a:off x="320040" y="395028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61"/>
          <p:cNvSpPr/>
          <p:nvPr/>
        </p:nvSpPr>
        <p:spPr>
          <a:xfrm>
            <a:off x="987480" y="3950280"/>
            <a:ext cx="191988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62"/>
          <p:cNvSpPr/>
          <p:nvPr/>
        </p:nvSpPr>
        <p:spPr>
          <a:xfrm>
            <a:off x="1033200" y="39502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Lang-8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63"/>
          <p:cNvSpPr/>
          <p:nvPr/>
        </p:nvSpPr>
        <p:spPr>
          <a:xfrm>
            <a:off x="2980800" y="3950280"/>
            <a:ext cx="118836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4"/>
          <p:cNvSpPr/>
          <p:nvPr/>
        </p:nvSpPr>
        <p:spPr>
          <a:xfrm>
            <a:off x="3026520" y="395028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100 665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65"/>
          <p:cNvSpPr/>
          <p:nvPr/>
        </p:nvSpPr>
        <p:spPr>
          <a:xfrm>
            <a:off x="4242960" y="3950280"/>
            <a:ext cx="10969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66"/>
          <p:cNvSpPr/>
          <p:nvPr/>
        </p:nvSpPr>
        <p:spPr>
          <a:xfrm>
            <a:off x="4288680" y="395028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40 000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67"/>
          <p:cNvSpPr/>
          <p:nvPr/>
        </p:nvSpPr>
        <p:spPr>
          <a:xfrm>
            <a:off x="5413320" y="3950280"/>
            <a:ext cx="109692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68"/>
          <p:cNvSpPr/>
          <p:nvPr/>
        </p:nvSpPr>
        <p:spPr>
          <a:xfrm>
            <a:off x="5459040" y="395028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38 000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69"/>
          <p:cNvSpPr/>
          <p:nvPr/>
        </p:nvSpPr>
        <p:spPr>
          <a:xfrm>
            <a:off x="6583680" y="3950280"/>
            <a:ext cx="914040" cy="383760"/>
          </a:xfrm>
          <a:prstGeom prst="rect">
            <a:avLst/>
          </a:prstGeom>
          <a:solidFill>
            <a:srgbClr val="ebf5fb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70"/>
          <p:cNvSpPr/>
          <p:nvPr/>
        </p:nvSpPr>
        <p:spPr>
          <a:xfrm>
            <a:off x="6629400" y="395028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2 000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71"/>
          <p:cNvSpPr/>
          <p:nvPr/>
        </p:nvSpPr>
        <p:spPr>
          <a:xfrm>
            <a:off x="274320" y="4389120"/>
            <a:ext cx="6397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72"/>
          <p:cNvSpPr/>
          <p:nvPr/>
        </p:nvSpPr>
        <p:spPr>
          <a:xfrm>
            <a:off x="320040" y="4389120"/>
            <a:ext cx="548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73"/>
          <p:cNvSpPr/>
          <p:nvPr/>
        </p:nvSpPr>
        <p:spPr>
          <a:xfrm>
            <a:off x="987480" y="4389120"/>
            <a:ext cx="191988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74"/>
          <p:cNvSpPr/>
          <p:nvPr/>
        </p:nvSpPr>
        <p:spPr>
          <a:xfrm>
            <a:off x="1033200" y="438912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UA-GEC + CSV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5"/>
          <p:cNvSpPr/>
          <p:nvPr/>
        </p:nvSpPr>
        <p:spPr>
          <a:xfrm>
            <a:off x="2980800" y="4389120"/>
            <a:ext cx="118836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3026520" y="438912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26 690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7"/>
          <p:cNvSpPr/>
          <p:nvPr/>
        </p:nvSpPr>
        <p:spPr>
          <a:xfrm>
            <a:off x="4242960" y="4389120"/>
            <a:ext cx="10969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78"/>
          <p:cNvSpPr/>
          <p:nvPr/>
        </p:nvSpPr>
        <p:spPr>
          <a:xfrm>
            <a:off x="4288680" y="438912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14 690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79"/>
          <p:cNvSpPr/>
          <p:nvPr/>
        </p:nvSpPr>
        <p:spPr>
          <a:xfrm>
            <a:off x="5413320" y="4389120"/>
            <a:ext cx="109692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80"/>
          <p:cNvSpPr/>
          <p:nvPr/>
        </p:nvSpPr>
        <p:spPr>
          <a:xfrm>
            <a:off x="5459040" y="4389120"/>
            <a:ext cx="1005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13 955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81"/>
          <p:cNvSpPr/>
          <p:nvPr/>
        </p:nvSpPr>
        <p:spPr>
          <a:xfrm>
            <a:off x="6583680" y="4389120"/>
            <a:ext cx="914040" cy="383760"/>
          </a:xfrm>
          <a:prstGeom prst="rect">
            <a:avLst/>
          </a:prstGeom>
          <a:solidFill>
            <a:srgbClr val="ffffff"/>
          </a:solidFill>
          <a:ln w="6350">
            <a:solidFill>
              <a:srgbClr val="1f70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82"/>
          <p:cNvSpPr/>
          <p:nvPr/>
        </p:nvSpPr>
        <p:spPr>
          <a:xfrm>
            <a:off x="6629400" y="4389120"/>
            <a:ext cx="822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735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83"/>
          <p:cNvSpPr/>
          <p:nvPr/>
        </p:nvSpPr>
        <p:spPr>
          <a:xfrm>
            <a:off x="274320" y="4617720"/>
            <a:ext cx="8503560" cy="475200"/>
          </a:xfrm>
          <a:prstGeom prst="rect">
            <a:avLst/>
          </a:prstGeom>
          <a:solidFill>
            <a:srgbClr val="fef9e7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4"/>
          <p:cNvSpPr/>
          <p:nvPr/>
        </p:nvSpPr>
        <p:spPr>
          <a:xfrm>
            <a:off x="402480" y="4636080"/>
            <a:ext cx="832068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d5a00"/>
                </a:solidFill>
                <a:effectLst/>
                <a:uFillTx/>
                <a:latin typeface="Calibri"/>
                <a:ea typeface="Calibri"/>
              </a:rPr>
              <a:t>! UK: UA-GEC 15 090 → 14 690 унікальних; CSV 14 148 → 12 000 вибірка. Після pd.concat + drop_duplicates: 14 690 — CSV повністю перекривається UA-GEC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Конвеєр навчання: реалізаційні деталі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"/>
          <p:cNvSpPr/>
          <p:nvPr/>
        </p:nvSpPr>
        <p:spPr>
          <a:xfrm>
            <a:off x="274320" y="932760"/>
            <a:ext cx="4205880" cy="347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3"/>
          <p:cNvSpPr/>
          <p:nvPr/>
        </p:nvSpPr>
        <p:spPr>
          <a:xfrm>
            <a:off x="274320" y="93276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Відкладена ініціалізація CUDA (Windows)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4"/>
          <p:cNvSpPr/>
          <p:nvPr/>
        </p:nvSpPr>
        <p:spPr>
          <a:xfrm>
            <a:off x="274320" y="1280160"/>
            <a:ext cx="4205880" cy="1691280"/>
          </a:xfrm>
          <a:prstGeom prst="rect">
            <a:avLst/>
          </a:prstGeom>
          <a:solidFill>
            <a:srgbClr val="0a1f30"/>
          </a:solidFill>
          <a:ln w="1270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384120" y="1316880"/>
            <a:ext cx="3986280" cy="16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STATUS_ACCESS_VIOLATION (0xC0000005) — Windows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torch iмпортуємо ЛИШЕ пiсля pandas операцiй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import pandas as pd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df = pd.read_csv(...)   # CPU операцiї першими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df = df.dropna()        # ... фiльтрацiя ...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import torch            # ← тiльки пiсля pandas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b="0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from transformers import AutoTokenizer, ...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6"/>
          <p:cNvSpPr/>
          <p:nvPr/>
        </p:nvSpPr>
        <p:spPr>
          <a:xfrm>
            <a:off x="274320" y="3090600"/>
            <a:ext cx="4205880" cy="347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7"/>
          <p:cNvSpPr/>
          <p:nvPr/>
        </p:nvSpPr>
        <p:spPr>
          <a:xfrm>
            <a:off x="274320" y="309060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Адаптивний розмiр батчу (eff. batch=16)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8"/>
          <p:cNvSpPr/>
          <p:nvPr/>
        </p:nvSpPr>
        <p:spPr>
          <a:xfrm>
            <a:off x="274320" y="3438000"/>
            <a:ext cx="4205880" cy="1298160"/>
          </a:xfrm>
          <a:prstGeom prst="rect">
            <a:avLst/>
          </a:prstGeom>
          <a:solidFill>
            <a:srgbClr val="0a1f30"/>
          </a:solidFill>
          <a:ln w="1270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9"/>
          <p:cNvSpPr/>
          <p:nvPr/>
        </p:nvSpPr>
        <p:spPr>
          <a:xfrm>
            <a:off x="384120" y="3474720"/>
            <a:ext cx="3986280" cy="122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if vram &gt;= 12:  batch=8,  accum=2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elif vram &gt;= 8: batch=4,  accum=4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else:           batch=2,  accum=8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# → eff. batch = batch * accum = 16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0"/>
          <p:cNvSpPr/>
          <p:nvPr/>
        </p:nvSpPr>
        <p:spPr>
          <a:xfrm>
            <a:off x="4663440" y="932760"/>
            <a:ext cx="4205880" cy="347040"/>
          </a:xfrm>
          <a:prstGeom prst="rect">
            <a:avLst/>
          </a:prstGeom>
          <a:solidFill>
            <a:srgbClr val="028060"/>
          </a:solidFill>
          <a:ln w="12700">
            <a:solidFill>
              <a:srgbClr val="02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1"/>
          <p:cNvSpPr/>
          <p:nvPr/>
        </p:nvSpPr>
        <p:spPr>
          <a:xfrm>
            <a:off x="4663440" y="932760"/>
            <a:ext cx="4205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Ключовi параметри Seq2SeqTrainer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2"/>
          <p:cNvSpPr/>
          <p:nvPr/>
        </p:nvSpPr>
        <p:spPr>
          <a:xfrm>
            <a:off x="4663440" y="1325880"/>
            <a:ext cx="4205880" cy="310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3"/>
          <p:cNvSpPr/>
          <p:nvPr/>
        </p:nvSpPr>
        <p:spPr>
          <a:xfrm>
            <a:off x="4736520" y="13258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predict_with_generate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7269480" y="132588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5"/>
          <p:cNvSpPr/>
          <p:nvPr/>
        </p:nvSpPr>
        <p:spPr>
          <a:xfrm>
            <a:off x="4663440" y="1673280"/>
            <a:ext cx="4205880" cy="310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6"/>
          <p:cNvSpPr/>
          <p:nvPr/>
        </p:nvSpPr>
        <p:spPr>
          <a:xfrm>
            <a:off x="4736520" y="16732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evaluation_strategy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7"/>
          <p:cNvSpPr/>
          <p:nvPr/>
        </p:nvSpPr>
        <p:spPr>
          <a:xfrm>
            <a:off x="7269480" y="167328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"epoch"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8"/>
          <p:cNvSpPr/>
          <p:nvPr/>
        </p:nvSpPr>
        <p:spPr>
          <a:xfrm>
            <a:off x="4663440" y="2020680"/>
            <a:ext cx="4205880" cy="310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9"/>
          <p:cNvSpPr/>
          <p:nvPr/>
        </p:nvSpPr>
        <p:spPr>
          <a:xfrm>
            <a:off x="4736520" y="2020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load_best_model_at_end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0"/>
          <p:cNvSpPr/>
          <p:nvPr/>
        </p:nvSpPr>
        <p:spPr>
          <a:xfrm>
            <a:off x="7269480" y="202068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1"/>
          <p:cNvSpPr/>
          <p:nvPr/>
        </p:nvSpPr>
        <p:spPr>
          <a:xfrm>
            <a:off x="4663440" y="2368440"/>
            <a:ext cx="4205880" cy="310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4736520" y="23684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metric_for_best_model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3"/>
          <p:cNvSpPr/>
          <p:nvPr/>
        </p:nvSpPr>
        <p:spPr>
          <a:xfrm>
            <a:off x="7269480" y="236844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"eval_loss"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24"/>
          <p:cNvSpPr/>
          <p:nvPr/>
        </p:nvSpPr>
        <p:spPr>
          <a:xfrm>
            <a:off x="4663440" y="2715840"/>
            <a:ext cx="4205880" cy="310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5"/>
          <p:cNvSpPr/>
          <p:nvPr/>
        </p:nvSpPr>
        <p:spPr>
          <a:xfrm>
            <a:off x="4736520" y="27158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bf16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6"/>
          <p:cNvSpPr/>
          <p:nvPr/>
        </p:nvSpPr>
        <p:spPr>
          <a:xfrm>
            <a:off x="7269480" y="271584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True  (fp16=False)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7"/>
          <p:cNvSpPr/>
          <p:nvPr/>
        </p:nvSpPr>
        <p:spPr>
          <a:xfrm>
            <a:off x="4663440" y="3063240"/>
            <a:ext cx="4205880" cy="310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8"/>
          <p:cNvSpPr/>
          <p:nvPr/>
        </p:nvSpPr>
        <p:spPr>
          <a:xfrm>
            <a:off x="4736520" y="30632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generation_max_length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9"/>
          <p:cNvSpPr/>
          <p:nvPr/>
        </p:nvSpPr>
        <p:spPr>
          <a:xfrm>
            <a:off x="7269480" y="306324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128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30"/>
          <p:cNvSpPr/>
          <p:nvPr/>
        </p:nvSpPr>
        <p:spPr>
          <a:xfrm>
            <a:off x="4663440" y="3410640"/>
            <a:ext cx="4205880" cy="310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31"/>
          <p:cNvSpPr/>
          <p:nvPr/>
        </p:nvSpPr>
        <p:spPr>
          <a:xfrm>
            <a:off x="4736520" y="3410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DataCollator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2"/>
          <p:cNvSpPr/>
          <p:nvPr/>
        </p:nvSpPr>
        <p:spPr>
          <a:xfrm>
            <a:off x="7269480" y="341064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Seq2Seq (dynamic pad)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33"/>
          <p:cNvSpPr/>
          <p:nvPr/>
        </p:nvSpPr>
        <p:spPr>
          <a:xfrm>
            <a:off x="4663440" y="3776400"/>
            <a:ext cx="4205880" cy="319680"/>
          </a:xfrm>
          <a:prstGeom prst="rect">
            <a:avLst/>
          </a:prstGeom>
          <a:solidFill>
            <a:srgbClr val="9b3a2a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4"/>
          <p:cNvSpPr/>
          <p:nvPr/>
        </p:nvSpPr>
        <p:spPr>
          <a:xfrm>
            <a:off x="4663440" y="377640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Санiтарна перевiрка початкового loss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5"/>
          <p:cNvSpPr/>
          <p:nvPr/>
        </p:nvSpPr>
        <p:spPr>
          <a:xfrm>
            <a:off x="4663440" y="4133160"/>
            <a:ext cx="4205880" cy="264960"/>
          </a:xfrm>
          <a:prstGeom prst="rect">
            <a:avLst/>
          </a:prstGeom>
          <a:solidFill>
            <a:srgbClr val="1a0a08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36"/>
          <p:cNvSpPr/>
          <p:nvPr/>
        </p:nvSpPr>
        <p:spPr>
          <a:xfrm>
            <a:off x="4736520" y="4133160"/>
            <a:ext cx="914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 (T5)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7"/>
          <p:cNvSpPr/>
          <p:nvPr/>
        </p:nvSpPr>
        <p:spPr>
          <a:xfrm>
            <a:off x="5706000" y="4133160"/>
            <a:ext cx="731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2.18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8"/>
          <p:cNvSpPr/>
          <p:nvPr/>
        </p:nvSpPr>
        <p:spPr>
          <a:xfrm>
            <a:off x="6492240" y="4133160"/>
            <a:ext cx="2331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T5 вже знає граматику EN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39"/>
          <p:cNvSpPr/>
          <p:nvPr/>
        </p:nvSpPr>
        <p:spPr>
          <a:xfrm>
            <a:off x="4663440" y="4434840"/>
            <a:ext cx="4205880" cy="264960"/>
          </a:xfrm>
          <a:prstGeom prst="rect">
            <a:avLst/>
          </a:prstGeom>
          <a:solidFill>
            <a:srgbClr val="0f0605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40"/>
          <p:cNvSpPr/>
          <p:nvPr/>
        </p:nvSpPr>
        <p:spPr>
          <a:xfrm>
            <a:off x="4736520" y="4434840"/>
            <a:ext cx="914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41"/>
          <p:cNvSpPr/>
          <p:nvPr/>
        </p:nvSpPr>
        <p:spPr>
          <a:xfrm>
            <a:off x="5706000" y="4434840"/>
            <a:ext cx="731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30.77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42"/>
          <p:cNvSpPr/>
          <p:nvPr/>
        </p:nvSpPr>
        <p:spPr>
          <a:xfrm>
            <a:off x="6492240" y="4434840"/>
            <a:ext cx="2331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~ln(250 100) — рiвномiрний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43"/>
          <p:cNvSpPr/>
          <p:nvPr/>
        </p:nvSpPr>
        <p:spPr>
          <a:xfrm>
            <a:off x="4663440" y="4736520"/>
            <a:ext cx="4205880" cy="264960"/>
          </a:xfrm>
          <a:prstGeom prst="rect">
            <a:avLst/>
          </a:prstGeom>
          <a:solidFill>
            <a:srgbClr val="1a0a08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44"/>
          <p:cNvSpPr/>
          <p:nvPr/>
        </p:nvSpPr>
        <p:spPr>
          <a:xfrm>
            <a:off x="4736520" y="4736520"/>
            <a:ext cx="914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5"/>
          <p:cNvSpPr/>
          <p:nvPr/>
        </p:nvSpPr>
        <p:spPr>
          <a:xfrm>
            <a:off x="5706000" y="4736520"/>
            <a:ext cx="731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23.35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6"/>
          <p:cNvSpPr/>
          <p:nvPr/>
        </p:nvSpPr>
        <p:spPr>
          <a:xfrm>
            <a:off x="6492240" y="4736520"/>
            <a:ext cx="2331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частковi знання кор.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7"/>
          <p:cNvSpPr/>
          <p:nvPr/>
        </p:nvSpPr>
        <p:spPr>
          <a:xfrm>
            <a:off x="4663440" y="5038200"/>
            <a:ext cx="4205880" cy="264960"/>
          </a:xfrm>
          <a:prstGeom prst="rect">
            <a:avLst/>
          </a:prstGeom>
          <a:solidFill>
            <a:srgbClr val="0f0605"/>
          </a:solidFill>
          <a:ln w="6350">
            <a:solidFill>
              <a:srgbClr val="3d151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8"/>
          <p:cNvSpPr/>
          <p:nvPr/>
        </p:nvSpPr>
        <p:spPr>
          <a:xfrm>
            <a:off x="4736520" y="5038200"/>
            <a:ext cx="91404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UK (mT5)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49"/>
          <p:cNvSpPr/>
          <p:nvPr/>
        </p:nvSpPr>
        <p:spPr>
          <a:xfrm>
            <a:off x="5706000" y="5038200"/>
            <a:ext cx="7311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35.31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50"/>
          <p:cNvSpPr/>
          <p:nvPr/>
        </p:nvSpPr>
        <p:spPr>
          <a:xfrm>
            <a:off x="6492240" y="5038200"/>
            <a:ext cx="233136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лiт. укр. &lt; репрезент.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Гіперпараметри навчання (Таблиця 3.3)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2"/>
          <p:cNvSpPr/>
          <p:nvPr/>
        </p:nvSpPr>
        <p:spPr>
          <a:xfrm>
            <a:off x="274320" y="932760"/>
            <a:ext cx="1782720" cy="3564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3"/>
          <p:cNvSpPr/>
          <p:nvPr/>
        </p:nvSpPr>
        <p:spPr>
          <a:xfrm>
            <a:off x="338400" y="93276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Параметр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4"/>
          <p:cNvSpPr/>
          <p:nvPr/>
        </p:nvSpPr>
        <p:spPr>
          <a:xfrm>
            <a:off x="2103120" y="932760"/>
            <a:ext cx="1508400" cy="3564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5"/>
          <p:cNvSpPr/>
          <p:nvPr/>
        </p:nvSpPr>
        <p:spPr>
          <a:xfrm>
            <a:off x="2167200" y="93276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Значення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6"/>
          <p:cNvSpPr/>
          <p:nvPr/>
        </p:nvSpPr>
        <p:spPr>
          <a:xfrm>
            <a:off x="3657600" y="932760"/>
            <a:ext cx="3428640" cy="3564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3721680" y="93276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Обґрунтування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274320" y="1334880"/>
            <a:ext cx="178272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9"/>
          <p:cNvSpPr/>
          <p:nvPr/>
        </p:nvSpPr>
        <p:spPr>
          <a:xfrm>
            <a:off x="338400" y="133488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Optimizer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0"/>
          <p:cNvSpPr/>
          <p:nvPr/>
        </p:nvSpPr>
        <p:spPr>
          <a:xfrm>
            <a:off x="2103120" y="1334880"/>
            <a:ext cx="150840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1"/>
          <p:cNvSpPr/>
          <p:nvPr/>
        </p:nvSpPr>
        <p:spPr>
          <a:xfrm>
            <a:off x="2167200" y="133488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Adafactor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2"/>
          <p:cNvSpPr/>
          <p:nvPr/>
        </p:nvSpPr>
        <p:spPr>
          <a:xfrm>
            <a:off x="3657600" y="1334880"/>
            <a:ext cx="342864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3"/>
          <p:cNvSpPr/>
          <p:nvPr/>
        </p:nvSpPr>
        <p:spPr>
          <a:xfrm>
            <a:off x="3721680" y="133488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Без 2-го моменту → −50% VRAM vs Adam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4"/>
          <p:cNvSpPr/>
          <p:nvPr/>
        </p:nvSpPr>
        <p:spPr>
          <a:xfrm>
            <a:off x="274320" y="1737360"/>
            <a:ext cx="178272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5"/>
          <p:cNvSpPr/>
          <p:nvPr/>
        </p:nvSpPr>
        <p:spPr>
          <a:xfrm>
            <a:off x="338400" y="173736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Batch size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6"/>
          <p:cNvSpPr/>
          <p:nvPr/>
        </p:nvSpPr>
        <p:spPr>
          <a:xfrm>
            <a:off x="2103120" y="1737360"/>
            <a:ext cx="150840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7"/>
          <p:cNvSpPr/>
          <p:nvPr/>
        </p:nvSpPr>
        <p:spPr>
          <a:xfrm>
            <a:off x="2167200" y="173736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адаптивний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8"/>
          <p:cNvSpPr/>
          <p:nvPr/>
        </p:nvSpPr>
        <p:spPr>
          <a:xfrm>
            <a:off x="3657600" y="1737360"/>
            <a:ext cx="342864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9"/>
          <p:cNvSpPr/>
          <p:nvPr/>
        </p:nvSpPr>
        <p:spPr>
          <a:xfrm>
            <a:off x="3721680" y="173736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eff. batch=16 (accum 2/4/8 залежно VRAM)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0"/>
          <p:cNvSpPr/>
          <p:nvPr/>
        </p:nvSpPr>
        <p:spPr>
          <a:xfrm>
            <a:off x="274320" y="2139840"/>
            <a:ext cx="178272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1"/>
          <p:cNvSpPr/>
          <p:nvPr/>
        </p:nvSpPr>
        <p:spPr>
          <a:xfrm>
            <a:off x="338400" y="213984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Weight decay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22"/>
          <p:cNvSpPr/>
          <p:nvPr/>
        </p:nvSpPr>
        <p:spPr>
          <a:xfrm>
            <a:off x="2103120" y="2139840"/>
            <a:ext cx="150840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3"/>
          <p:cNvSpPr/>
          <p:nvPr/>
        </p:nvSpPr>
        <p:spPr>
          <a:xfrm>
            <a:off x="2167200" y="213984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0.01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4"/>
          <p:cNvSpPr/>
          <p:nvPr/>
        </p:nvSpPr>
        <p:spPr>
          <a:xfrm>
            <a:off x="3657600" y="2139840"/>
            <a:ext cx="342864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5"/>
          <p:cNvSpPr/>
          <p:nvPr/>
        </p:nvSpPr>
        <p:spPr>
          <a:xfrm>
            <a:off x="3721680" y="213984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L2-регуляризація проти перенавчання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6"/>
          <p:cNvSpPr/>
          <p:nvPr/>
        </p:nvSpPr>
        <p:spPr>
          <a:xfrm>
            <a:off x="274320" y="2541960"/>
            <a:ext cx="178272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7"/>
          <p:cNvSpPr/>
          <p:nvPr/>
        </p:nvSpPr>
        <p:spPr>
          <a:xfrm>
            <a:off x="338400" y="254196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Max length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28"/>
          <p:cNvSpPr/>
          <p:nvPr/>
        </p:nvSpPr>
        <p:spPr>
          <a:xfrm>
            <a:off x="2103120" y="2541960"/>
            <a:ext cx="150840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9"/>
          <p:cNvSpPr/>
          <p:nvPr/>
        </p:nvSpPr>
        <p:spPr>
          <a:xfrm>
            <a:off x="2167200" y="254196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128 токенів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30"/>
          <p:cNvSpPr/>
          <p:nvPr/>
        </p:nvSpPr>
        <p:spPr>
          <a:xfrm>
            <a:off x="3657600" y="2541960"/>
            <a:ext cx="342864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1"/>
          <p:cNvSpPr/>
          <p:nvPr/>
        </p:nvSpPr>
        <p:spPr>
          <a:xfrm>
            <a:off x="3721680" y="254196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Для коротких учнівських речень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32"/>
          <p:cNvSpPr/>
          <p:nvPr/>
        </p:nvSpPr>
        <p:spPr>
          <a:xfrm>
            <a:off x="274320" y="2944440"/>
            <a:ext cx="178272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3"/>
          <p:cNvSpPr/>
          <p:nvPr/>
        </p:nvSpPr>
        <p:spPr>
          <a:xfrm>
            <a:off x="338400" y="294444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Beam search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34"/>
          <p:cNvSpPr/>
          <p:nvPr/>
        </p:nvSpPr>
        <p:spPr>
          <a:xfrm>
            <a:off x="2103120" y="2944440"/>
            <a:ext cx="150840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35"/>
          <p:cNvSpPr/>
          <p:nvPr/>
        </p:nvSpPr>
        <p:spPr>
          <a:xfrm>
            <a:off x="2167200" y="294444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 beams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36"/>
          <p:cNvSpPr/>
          <p:nvPr/>
        </p:nvSpPr>
        <p:spPr>
          <a:xfrm>
            <a:off x="3657600" y="2944440"/>
            <a:ext cx="3428640" cy="35640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7"/>
          <p:cNvSpPr/>
          <p:nvPr/>
        </p:nvSpPr>
        <p:spPr>
          <a:xfrm>
            <a:off x="3721680" y="294444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Якість генерацiї / швидкість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8"/>
          <p:cNvSpPr/>
          <p:nvPr/>
        </p:nvSpPr>
        <p:spPr>
          <a:xfrm>
            <a:off x="274320" y="3346560"/>
            <a:ext cx="178272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39"/>
          <p:cNvSpPr/>
          <p:nvPr/>
        </p:nvSpPr>
        <p:spPr>
          <a:xfrm>
            <a:off x="338400" y="3346560"/>
            <a:ext cx="167292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Precision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40"/>
          <p:cNvSpPr/>
          <p:nvPr/>
        </p:nvSpPr>
        <p:spPr>
          <a:xfrm>
            <a:off x="2103120" y="3346560"/>
            <a:ext cx="150840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1"/>
          <p:cNvSpPr/>
          <p:nvPr/>
        </p:nvSpPr>
        <p:spPr>
          <a:xfrm>
            <a:off x="2167200" y="3346560"/>
            <a:ext cx="139860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BF16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42"/>
          <p:cNvSpPr/>
          <p:nvPr/>
        </p:nvSpPr>
        <p:spPr>
          <a:xfrm>
            <a:off x="3657600" y="3346560"/>
            <a:ext cx="3428640" cy="35640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3"/>
          <p:cNvSpPr/>
          <p:nvPr/>
        </p:nvSpPr>
        <p:spPr>
          <a:xfrm>
            <a:off x="3721680" y="3346560"/>
            <a:ext cx="3318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Half-precision → вдвічi менше VRAM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44"/>
          <p:cNvSpPr/>
          <p:nvPr/>
        </p:nvSpPr>
        <p:spPr>
          <a:xfrm>
            <a:off x="7315200" y="932760"/>
            <a:ext cx="1599840" cy="35640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45"/>
          <p:cNvSpPr/>
          <p:nvPr/>
        </p:nvSpPr>
        <p:spPr>
          <a:xfrm>
            <a:off x="7315200" y="932760"/>
            <a:ext cx="15998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Мова-специфiчнi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6"/>
          <p:cNvSpPr/>
          <p:nvPr/>
        </p:nvSpPr>
        <p:spPr>
          <a:xfrm>
            <a:off x="7315200" y="1334880"/>
            <a:ext cx="411120" cy="3286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47"/>
          <p:cNvSpPr/>
          <p:nvPr/>
        </p:nvSpPr>
        <p:spPr>
          <a:xfrm>
            <a:off x="7342560" y="133488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48"/>
          <p:cNvSpPr/>
          <p:nvPr/>
        </p:nvSpPr>
        <p:spPr>
          <a:xfrm>
            <a:off x="7772400" y="1334880"/>
            <a:ext cx="411120" cy="3286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49"/>
          <p:cNvSpPr/>
          <p:nvPr/>
        </p:nvSpPr>
        <p:spPr>
          <a:xfrm>
            <a:off x="7799760" y="133488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LR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50"/>
          <p:cNvSpPr/>
          <p:nvPr/>
        </p:nvSpPr>
        <p:spPr>
          <a:xfrm>
            <a:off x="8229600" y="1334880"/>
            <a:ext cx="475200" cy="3286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51"/>
          <p:cNvSpPr/>
          <p:nvPr/>
        </p:nvSpPr>
        <p:spPr>
          <a:xfrm>
            <a:off x="8256960" y="133488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Warmup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52"/>
          <p:cNvSpPr/>
          <p:nvPr/>
        </p:nvSpPr>
        <p:spPr>
          <a:xfrm>
            <a:off x="8750880" y="1334880"/>
            <a:ext cx="475200" cy="32868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3"/>
          <p:cNvSpPr/>
          <p:nvPr/>
        </p:nvSpPr>
        <p:spPr>
          <a:xfrm>
            <a:off x="8778240" y="133488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Epochs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54"/>
          <p:cNvSpPr/>
          <p:nvPr/>
        </p:nvSpPr>
        <p:spPr>
          <a:xfrm>
            <a:off x="7315200" y="1700640"/>
            <a:ext cx="41112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5"/>
          <p:cNvSpPr/>
          <p:nvPr/>
        </p:nvSpPr>
        <p:spPr>
          <a:xfrm>
            <a:off x="7342560" y="170064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56"/>
          <p:cNvSpPr/>
          <p:nvPr/>
        </p:nvSpPr>
        <p:spPr>
          <a:xfrm>
            <a:off x="7772400" y="1700640"/>
            <a:ext cx="41112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57"/>
          <p:cNvSpPr/>
          <p:nvPr/>
        </p:nvSpPr>
        <p:spPr>
          <a:xfrm>
            <a:off x="7799760" y="170064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58"/>
          <p:cNvSpPr/>
          <p:nvPr/>
        </p:nvSpPr>
        <p:spPr>
          <a:xfrm>
            <a:off x="8229600" y="1700640"/>
            <a:ext cx="47520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59"/>
          <p:cNvSpPr/>
          <p:nvPr/>
        </p:nvSpPr>
        <p:spPr>
          <a:xfrm>
            <a:off x="8256960" y="170064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60"/>
          <p:cNvSpPr/>
          <p:nvPr/>
        </p:nvSpPr>
        <p:spPr>
          <a:xfrm>
            <a:off x="8750880" y="1700640"/>
            <a:ext cx="47520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61"/>
          <p:cNvSpPr/>
          <p:nvPr/>
        </p:nvSpPr>
        <p:spPr>
          <a:xfrm>
            <a:off x="8778240" y="170064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62"/>
          <p:cNvSpPr/>
          <p:nvPr/>
        </p:nvSpPr>
        <p:spPr>
          <a:xfrm>
            <a:off x="7315200" y="2066400"/>
            <a:ext cx="411120" cy="328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3"/>
          <p:cNvSpPr/>
          <p:nvPr/>
        </p:nvSpPr>
        <p:spPr>
          <a:xfrm>
            <a:off x="7342560" y="206640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64"/>
          <p:cNvSpPr/>
          <p:nvPr/>
        </p:nvSpPr>
        <p:spPr>
          <a:xfrm>
            <a:off x="7772400" y="2066400"/>
            <a:ext cx="411120" cy="328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5"/>
          <p:cNvSpPr/>
          <p:nvPr/>
        </p:nvSpPr>
        <p:spPr>
          <a:xfrm>
            <a:off x="7799760" y="206640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66"/>
          <p:cNvSpPr/>
          <p:nvPr/>
        </p:nvSpPr>
        <p:spPr>
          <a:xfrm>
            <a:off x="8229600" y="2066400"/>
            <a:ext cx="475200" cy="328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67"/>
          <p:cNvSpPr/>
          <p:nvPr/>
        </p:nvSpPr>
        <p:spPr>
          <a:xfrm>
            <a:off x="8256960" y="206640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68"/>
          <p:cNvSpPr/>
          <p:nvPr/>
        </p:nvSpPr>
        <p:spPr>
          <a:xfrm>
            <a:off x="8750880" y="2066400"/>
            <a:ext cx="475200" cy="32868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69"/>
          <p:cNvSpPr/>
          <p:nvPr/>
        </p:nvSpPr>
        <p:spPr>
          <a:xfrm>
            <a:off x="8778240" y="206640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70"/>
          <p:cNvSpPr/>
          <p:nvPr/>
        </p:nvSpPr>
        <p:spPr>
          <a:xfrm>
            <a:off x="7315200" y="2432160"/>
            <a:ext cx="41112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71"/>
          <p:cNvSpPr/>
          <p:nvPr/>
        </p:nvSpPr>
        <p:spPr>
          <a:xfrm>
            <a:off x="7342560" y="243216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72"/>
          <p:cNvSpPr/>
          <p:nvPr/>
        </p:nvSpPr>
        <p:spPr>
          <a:xfrm>
            <a:off x="7772400" y="2432160"/>
            <a:ext cx="41112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73"/>
          <p:cNvSpPr/>
          <p:nvPr/>
        </p:nvSpPr>
        <p:spPr>
          <a:xfrm>
            <a:off x="7799760" y="243216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0.001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74"/>
          <p:cNvSpPr/>
          <p:nvPr/>
        </p:nvSpPr>
        <p:spPr>
          <a:xfrm>
            <a:off x="8229600" y="2432160"/>
            <a:ext cx="47520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75"/>
          <p:cNvSpPr/>
          <p:nvPr/>
        </p:nvSpPr>
        <p:spPr>
          <a:xfrm>
            <a:off x="8256960" y="243216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76"/>
          <p:cNvSpPr/>
          <p:nvPr/>
        </p:nvSpPr>
        <p:spPr>
          <a:xfrm>
            <a:off x="8750880" y="2432160"/>
            <a:ext cx="475200" cy="32868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77"/>
          <p:cNvSpPr/>
          <p:nvPr/>
        </p:nvSpPr>
        <p:spPr>
          <a:xfrm>
            <a:off x="8778240" y="243216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78"/>
          <p:cNvSpPr/>
          <p:nvPr/>
        </p:nvSpPr>
        <p:spPr>
          <a:xfrm>
            <a:off x="7315200" y="2797920"/>
            <a:ext cx="411120" cy="32868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79"/>
          <p:cNvSpPr/>
          <p:nvPr/>
        </p:nvSpPr>
        <p:spPr>
          <a:xfrm>
            <a:off x="7342560" y="279792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80"/>
          <p:cNvSpPr/>
          <p:nvPr/>
        </p:nvSpPr>
        <p:spPr>
          <a:xfrm>
            <a:off x="7772400" y="2797920"/>
            <a:ext cx="411120" cy="32868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81"/>
          <p:cNvSpPr/>
          <p:nvPr/>
        </p:nvSpPr>
        <p:spPr>
          <a:xfrm>
            <a:off x="7799760" y="2797920"/>
            <a:ext cx="365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5e-4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82"/>
          <p:cNvSpPr/>
          <p:nvPr/>
        </p:nvSpPr>
        <p:spPr>
          <a:xfrm>
            <a:off x="8229600" y="2797920"/>
            <a:ext cx="475200" cy="32868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83"/>
          <p:cNvSpPr/>
          <p:nvPr/>
        </p:nvSpPr>
        <p:spPr>
          <a:xfrm>
            <a:off x="8256960" y="279792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300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84"/>
          <p:cNvSpPr/>
          <p:nvPr/>
        </p:nvSpPr>
        <p:spPr>
          <a:xfrm>
            <a:off x="8750880" y="2797920"/>
            <a:ext cx="475200" cy="328680"/>
          </a:xfrm>
          <a:prstGeom prst="rect">
            <a:avLst/>
          </a:prstGeom>
          <a:solidFill>
            <a:srgbClr val="1a1d0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85"/>
          <p:cNvSpPr/>
          <p:nvPr/>
        </p:nvSpPr>
        <p:spPr>
          <a:xfrm>
            <a:off x="8778240" y="2797920"/>
            <a:ext cx="4294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86"/>
          <p:cNvSpPr/>
          <p:nvPr/>
        </p:nvSpPr>
        <p:spPr>
          <a:xfrm>
            <a:off x="274320" y="3749040"/>
            <a:ext cx="8640720" cy="32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87"/>
          <p:cNvSpPr/>
          <p:nvPr/>
        </p:nvSpPr>
        <p:spPr>
          <a:xfrm>
            <a:off x="274320" y="3749040"/>
            <a:ext cx="8640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10152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Динамiка loss: початковий → train (ост. еп.) → val (ост. еп.)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88"/>
          <p:cNvSpPr/>
          <p:nvPr/>
        </p:nvSpPr>
        <p:spPr>
          <a:xfrm>
            <a:off x="274320" y="4114800"/>
            <a:ext cx="1188360" cy="28296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89"/>
          <p:cNvSpPr/>
          <p:nvPr/>
        </p:nvSpPr>
        <p:spPr>
          <a:xfrm>
            <a:off x="311040" y="411480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90"/>
          <p:cNvSpPr/>
          <p:nvPr/>
        </p:nvSpPr>
        <p:spPr>
          <a:xfrm>
            <a:off x="1508760" y="4114800"/>
            <a:ext cx="1234080" cy="28296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91"/>
          <p:cNvSpPr/>
          <p:nvPr/>
        </p:nvSpPr>
        <p:spPr>
          <a:xfrm>
            <a:off x="1545480" y="4114800"/>
            <a:ext cx="11610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Loss₀ (поч.)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92"/>
          <p:cNvSpPr/>
          <p:nvPr/>
        </p:nvSpPr>
        <p:spPr>
          <a:xfrm>
            <a:off x="2788920" y="4114800"/>
            <a:ext cx="1554120" cy="28296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93"/>
          <p:cNvSpPr/>
          <p:nvPr/>
        </p:nvSpPr>
        <p:spPr>
          <a:xfrm>
            <a:off x="2825640" y="411480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Train loss (ост.)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94"/>
          <p:cNvSpPr/>
          <p:nvPr/>
        </p:nvSpPr>
        <p:spPr>
          <a:xfrm>
            <a:off x="4389120" y="4114800"/>
            <a:ext cx="1554120" cy="28296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95"/>
          <p:cNvSpPr/>
          <p:nvPr/>
        </p:nvSpPr>
        <p:spPr>
          <a:xfrm>
            <a:off x="4425840" y="411480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Val loss (ост.)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96"/>
          <p:cNvSpPr/>
          <p:nvPr/>
        </p:nvSpPr>
        <p:spPr>
          <a:xfrm>
            <a:off x="5989320" y="4114800"/>
            <a:ext cx="2971440" cy="28296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97"/>
          <p:cNvSpPr/>
          <p:nvPr/>
        </p:nvSpPr>
        <p:spPr>
          <a:xfrm>
            <a:off x="6026040" y="4114800"/>
            <a:ext cx="2898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Динамiка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98"/>
          <p:cNvSpPr/>
          <p:nvPr/>
        </p:nvSpPr>
        <p:spPr>
          <a:xfrm>
            <a:off x="274320" y="4434840"/>
            <a:ext cx="118836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99"/>
          <p:cNvSpPr/>
          <p:nvPr/>
        </p:nvSpPr>
        <p:spPr>
          <a:xfrm>
            <a:off x="311040" y="443484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 (T5)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00"/>
          <p:cNvSpPr/>
          <p:nvPr/>
        </p:nvSpPr>
        <p:spPr>
          <a:xfrm>
            <a:off x="1508760" y="4434840"/>
            <a:ext cx="123408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01"/>
          <p:cNvSpPr/>
          <p:nvPr/>
        </p:nvSpPr>
        <p:spPr>
          <a:xfrm>
            <a:off x="1545480" y="4434840"/>
            <a:ext cx="11610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02"/>
          <p:cNvSpPr/>
          <p:nvPr/>
        </p:nvSpPr>
        <p:spPr>
          <a:xfrm>
            <a:off x="2788920" y="4434840"/>
            <a:ext cx="155412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03"/>
          <p:cNvSpPr/>
          <p:nvPr/>
        </p:nvSpPr>
        <p:spPr>
          <a:xfrm>
            <a:off x="2825640" y="443484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1.285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04"/>
          <p:cNvSpPr/>
          <p:nvPr/>
        </p:nvSpPr>
        <p:spPr>
          <a:xfrm>
            <a:off x="4389120" y="4434840"/>
            <a:ext cx="155412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05"/>
          <p:cNvSpPr/>
          <p:nvPr/>
        </p:nvSpPr>
        <p:spPr>
          <a:xfrm>
            <a:off x="4425840" y="443484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0.907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06"/>
          <p:cNvSpPr/>
          <p:nvPr/>
        </p:nvSpPr>
        <p:spPr>
          <a:xfrm>
            <a:off x="5989320" y="4434840"/>
            <a:ext cx="297144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07"/>
          <p:cNvSpPr/>
          <p:nvPr/>
        </p:nvSpPr>
        <p:spPr>
          <a:xfrm>
            <a:off x="6026040" y="4434840"/>
            <a:ext cx="2898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стабiльна збiжнiсть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08"/>
          <p:cNvSpPr/>
          <p:nvPr/>
        </p:nvSpPr>
        <p:spPr>
          <a:xfrm>
            <a:off x="274320" y="4754880"/>
            <a:ext cx="1188360" cy="28296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09"/>
          <p:cNvSpPr/>
          <p:nvPr/>
        </p:nvSpPr>
        <p:spPr>
          <a:xfrm>
            <a:off x="311040" y="475488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110"/>
          <p:cNvSpPr/>
          <p:nvPr/>
        </p:nvSpPr>
        <p:spPr>
          <a:xfrm>
            <a:off x="1508760" y="4754880"/>
            <a:ext cx="1234080" cy="28296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11"/>
          <p:cNvSpPr/>
          <p:nvPr/>
        </p:nvSpPr>
        <p:spPr>
          <a:xfrm>
            <a:off x="1545480" y="4754880"/>
            <a:ext cx="11610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30.77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12"/>
          <p:cNvSpPr/>
          <p:nvPr/>
        </p:nvSpPr>
        <p:spPr>
          <a:xfrm>
            <a:off x="2788920" y="4754880"/>
            <a:ext cx="1554120" cy="28296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13"/>
          <p:cNvSpPr/>
          <p:nvPr/>
        </p:nvSpPr>
        <p:spPr>
          <a:xfrm>
            <a:off x="2825640" y="475488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1.472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14"/>
          <p:cNvSpPr/>
          <p:nvPr/>
        </p:nvSpPr>
        <p:spPr>
          <a:xfrm>
            <a:off x="4389120" y="4754880"/>
            <a:ext cx="1554120" cy="28296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15"/>
          <p:cNvSpPr/>
          <p:nvPr/>
        </p:nvSpPr>
        <p:spPr>
          <a:xfrm>
            <a:off x="4425840" y="475488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16"/>
          <p:cNvSpPr/>
          <p:nvPr/>
        </p:nvSpPr>
        <p:spPr>
          <a:xfrm>
            <a:off x="5989320" y="4754880"/>
            <a:ext cx="2971440" cy="282960"/>
          </a:xfrm>
          <a:prstGeom prst="rect">
            <a:avLst/>
          </a:prstGeom>
          <a:solidFill>
            <a:srgbClr val="152538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17"/>
          <p:cNvSpPr/>
          <p:nvPr/>
        </p:nvSpPr>
        <p:spPr>
          <a:xfrm>
            <a:off x="6026040" y="4754880"/>
            <a:ext cx="2898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швидке падiння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118"/>
          <p:cNvSpPr/>
          <p:nvPr/>
        </p:nvSpPr>
        <p:spPr>
          <a:xfrm>
            <a:off x="274320" y="5074920"/>
            <a:ext cx="118836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19"/>
          <p:cNvSpPr/>
          <p:nvPr/>
        </p:nvSpPr>
        <p:spPr>
          <a:xfrm>
            <a:off x="311040" y="507492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20"/>
          <p:cNvSpPr/>
          <p:nvPr/>
        </p:nvSpPr>
        <p:spPr>
          <a:xfrm>
            <a:off x="1508760" y="5074920"/>
            <a:ext cx="123408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21"/>
          <p:cNvSpPr/>
          <p:nvPr/>
        </p:nvSpPr>
        <p:spPr>
          <a:xfrm>
            <a:off x="1545480" y="5074920"/>
            <a:ext cx="11610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23.35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22"/>
          <p:cNvSpPr/>
          <p:nvPr/>
        </p:nvSpPr>
        <p:spPr>
          <a:xfrm>
            <a:off x="2788920" y="5074920"/>
            <a:ext cx="155412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23"/>
          <p:cNvSpPr/>
          <p:nvPr/>
        </p:nvSpPr>
        <p:spPr>
          <a:xfrm>
            <a:off x="2825640" y="507492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1.577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124"/>
          <p:cNvSpPr/>
          <p:nvPr/>
        </p:nvSpPr>
        <p:spPr>
          <a:xfrm>
            <a:off x="4389120" y="5074920"/>
            <a:ext cx="155412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25"/>
          <p:cNvSpPr/>
          <p:nvPr/>
        </p:nvSpPr>
        <p:spPr>
          <a:xfrm>
            <a:off x="4425840" y="507492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0.996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26"/>
          <p:cNvSpPr/>
          <p:nvPr/>
        </p:nvSpPr>
        <p:spPr>
          <a:xfrm>
            <a:off x="5989320" y="5074920"/>
            <a:ext cx="2971440" cy="28296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27"/>
          <p:cNvSpPr/>
          <p:nvPr/>
        </p:nvSpPr>
        <p:spPr>
          <a:xfrm>
            <a:off x="6026040" y="5074920"/>
            <a:ext cx="2898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нормальна збiжнiсть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128"/>
          <p:cNvSpPr/>
          <p:nvPr/>
        </p:nvSpPr>
        <p:spPr>
          <a:xfrm>
            <a:off x="274320" y="5394960"/>
            <a:ext cx="1188360" cy="28296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29"/>
          <p:cNvSpPr/>
          <p:nvPr/>
        </p:nvSpPr>
        <p:spPr>
          <a:xfrm>
            <a:off x="311040" y="5394960"/>
            <a:ext cx="111528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UK (mT5)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30"/>
          <p:cNvSpPr/>
          <p:nvPr/>
        </p:nvSpPr>
        <p:spPr>
          <a:xfrm>
            <a:off x="1508760" y="5394960"/>
            <a:ext cx="1234080" cy="28296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31"/>
          <p:cNvSpPr/>
          <p:nvPr/>
        </p:nvSpPr>
        <p:spPr>
          <a:xfrm>
            <a:off x="1545480" y="5394960"/>
            <a:ext cx="11610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35.31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32"/>
          <p:cNvSpPr/>
          <p:nvPr/>
        </p:nvSpPr>
        <p:spPr>
          <a:xfrm>
            <a:off x="2788920" y="5394960"/>
            <a:ext cx="1554120" cy="28296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33"/>
          <p:cNvSpPr/>
          <p:nvPr/>
        </p:nvSpPr>
        <p:spPr>
          <a:xfrm>
            <a:off x="2825640" y="539496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0.425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34"/>
          <p:cNvSpPr/>
          <p:nvPr/>
        </p:nvSpPr>
        <p:spPr>
          <a:xfrm>
            <a:off x="4389120" y="5394960"/>
            <a:ext cx="1554120" cy="28296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35"/>
          <p:cNvSpPr/>
          <p:nvPr/>
        </p:nvSpPr>
        <p:spPr>
          <a:xfrm>
            <a:off x="4425840" y="5394960"/>
            <a:ext cx="14810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0.280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136"/>
          <p:cNvSpPr/>
          <p:nvPr/>
        </p:nvSpPr>
        <p:spPr>
          <a:xfrm>
            <a:off x="5989320" y="5394960"/>
            <a:ext cx="2971440" cy="282960"/>
          </a:xfrm>
          <a:prstGeom prst="rect">
            <a:avLst/>
          </a:prstGeom>
          <a:solidFill>
            <a:srgbClr val="1a0a08"/>
          </a:solidFill>
          <a:ln w="1016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137"/>
          <p:cNvSpPr/>
          <p:nvPr/>
        </p:nvSpPr>
        <p:spPr>
          <a:xfrm>
            <a:off x="6026040" y="5394960"/>
            <a:ext cx="289836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! перенавчання на UA-GEC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Результати навчання GEC — BLEU (Таблиця 3.5)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3" name="Chart 0"/>
          <p:cNvGraphicFramePr/>
          <p:nvPr/>
        </p:nvGraphicFramePr>
        <p:xfrm>
          <a:off x="274320" y="868680"/>
          <a:ext cx="5120280" cy="3840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24" name="Shape 2"/>
          <p:cNvSpPr/>
          <p:nvPr/>
        </p:nvSpPr>
        <p:spPr>
          <a:xfrm>
            <a:off x="5532120" y="960120"/>
            <a:ext cx="502560" cy="5756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"/>
          <p:cNvSpPr/>
          <p:nvPr/>
        </p:nvSpPr>
        <p:spPr>
          <a:xfrm>
            <a:off x="5559480" y="960120"/>
            <a:ext cx="447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Мова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"/>
          <p:cNvSpPr/>
          <p:nvPr/>
        </p:nvSpPr>
        <p:spPr>
          <a:xfrm>
            <a:off x="6071760" y="960120"/>
            <a:ext cx="749520" cy="5756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5"/>
          <p:cNvSpPr/>
          <p:nvPr/>
        </p:nvSpPr>
        <p:spPr>
          <a:xfrm>
            <a:off x="6099120" y="960120"/>
            <a:ext cx="694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BLEU↑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6"/>
          <p:cNvSpPr/>
          <p:nvPr/>
        </p:nvSpPr>
        <p:spPr>
          <a:xfrm>
            <a:off x="6858000" y="960120"/>
            <a:ext cx="594000" cy="5756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7"/>
          <p:cNvSpPr/>
          <p:nvPr/>
        </p:nvSpPr>
        <p:spPr>
          <a:xfrm>
            <a:off x="6885360" y="96012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Exact%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8"/>
          <p:cNvSpPr/>
          <p:nvPr/>
        </p:nvSpPr>
        <p:spPr>
          <a:xfrm>
            <a:off x="7489080" y="960120"/>
            <a:ext cx="594000" cy="5756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9"/>
          <p:cNvSpPr/>
          <p:nvPr/>
        </p:nvSpPr>
        <p:spPr>
          <a:xfrm>
            <a:off x="7516440" y="96012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Unchn%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0"/>
          <p:cNvSpPr/>
          <p:nvPr/>
        </p:nvSpPr>
        <p:spPr>
          <a:xfrm>
            <a:off x="8119800" y="960120"/>
            <a:ext cx="978120" cy="575640"/>
          </a:xfrm>
          <a:prstGeom prst="rect">
            <a:avLst/>
          </a:prstGeom>
          <a:solidFill>
            <a:srgbClr val="1d5c6e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1"/>
          <p:cNvSpPr/>
          <p:nvPr/>
        </p:nvSpPr>
        <p:spPr>
          <a:xfrm>
            <a:off x="8147160" y="960120"/>
            <a:ext cx="923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Якісна оцінка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2"/>
          <p:cNvSpPr/>
          <p:nvPr/>
        </p:nvSpPr>
        <p:spPr>
          <a:xfrm>
            <a:off x="5532120" y="1618560"/>
            <a:ext cx="50256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3"/>
          <p:cNvSpPr/>
          <p:nvPr/>
        </p:nvSpPr>
        <p:spPr>
          <a:xfrm>
            <a:off x="5559480" y="1618560"/>
            <a:ext cx="447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EN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4"/>
          <p:cNvSpPr/>
          <p:nvPr/>
        </p:nvSpPr>
        <p:spPr>
          <a:xfrm>
            <a:off x="6071760" y="1618560"/>
            <a:ext cx="74952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5"/>
          <p:cNvSpPr/>
          <p:nvPr/>
        </p:nvSpPr>
        <p:spPr>
          <a:xfrm>
            <a:off x="6099120" y="1618560"/>
            <a:ext cx="694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+16.53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16"/>
          <p:cNvSpPr/>
          <p:nvPr/>
        </p:nvSpPr>
        <p:spPr>
          <a:xfrm>
            <a:off x="6858000" y="1618560"/>
            <a:ext cx="59400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7"/>
          <p:cNvSpPr/>
          <p:nvPr/>
        </p:nvSpPr>
        <p:spPr>
          <a:xfrm>
            <a:off x="6885360" y="161856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18"/>
          <p:cNvSpPr/>
          <p:nvPr/>
        </p:nvSpPr>
        <p:spPr>
          <a:xfrm>
            <a:off x="7489080" y="1618560"/>
            <a:ext cx="59400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9"/>
          <p:cNvSpPr/>
          <p:nvPr/>
        </p:nvSpPr>
        <p:spPr>
          <a:xfrm>
            <a:off x="7516440" y="161856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20"/>
          <p:cNvSpPr/>
          <p:nvPr/>
        </p:nvSpPr>
        <p:spPr>
          <a:xfrm>
            <a:off x="8119800" y="1618560"/>
            <a:ext cx="97812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21"/>
          <p:cNvSpPr/>
          <p:nvPr/>
        </p:nvSpPr>
        <p:spPr>
          <a:xfrm>
            <a:off x="8147160" y="1618560"/>
            <a:ext cx="923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7/8 (87.5%)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22"/>
          <p:cNvSpPr/>
          <p:nvPr/>
        </p:nvSpPr>
        <p:spPr>
          <a:xfrm>
            <a:off x="5532120" y="2277000"/>
            <a:ext cx="502560" cy="57564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23"/>
          <p:cNvSpPr/>
          <p:nvPr/>
        </p:nvSpPr>
        <p:spPr>
          <a:xfrm>
            <a:off x="5559480" y="2277000"/>
            <a:ext cx="447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24"/>
          <p:cNvSpPr/>
          <p:nvPr/>
        </p:nvSpPr>
        <p:spPr>
          <a:xfrm>
            <a:off x="6071760" y="2277000"/>
            <a:ext cx="749520" cy="57564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25"/>
          <p:cNvSpPr/>
          <p:nvPr/>
        </p:nvSpPr>
        <p:spPr>
          <a:xfrm>
            <a:off x="6099120" y="2277000"/>
            <a:ext cx="694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+60.32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26"/>
          <p:cNvSpPr/>
          <p:nvPr/>
        </p:nvSpPr>
        <p:spPr>
          <a:xfrm>
            <a:off x="6858000" y="2277000"/>
            <a:ext cx="594000" cy="57564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27"/>
          <p:cNvSpPr/>
          <p:nvPr/>
        </p:nvSpPr>
        <p:spPr>
          <a:xfrm>
            <a:off x="6885360" y="227700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8"/>
          <p:cNvSpPr/>
          <p:nvPr/>
        </p:nvSpPr>
        <p:spPr>
          <a:xfrm>
            <a:off x="7489080" y="2277000"/>
            <a:ext cx="594000" cy="57564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29"/>
          <p:cNvSpPr/>
          <p:nvPr/>
        </p:nvSpPr>
        <p:spPr>
          <a:xfrm>
            <a:off x="7516440" y="227700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30"/>
          <p:cNvSpPr/>
          <p:nvPr/>
        </p:nvSpPr>
        <p:spPr>
          <a:xfrm>
            <a:off x="8119800" y="2277000"/>
            <a:ext cx="978120" cy="575640"/>
          </a:xfrm>
          <a:prstGeom prst="rect">
            <a:avLst/>
          </a:prstGeom>
          <a:solidFill>
            <a:srgbClr val="0f2233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31"/>
          <p:cNvSpPr/>
          <p:nvPr/>
        </p:nvSpPr>
        <p:spPr>
          <a:xfrm>
            <a:off x="8147160" y="2277000"/>
            <a:ext cx="923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4/5 (80.0%)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32"/>
          <p:cNvSpPr/>
          <p:nvPr/>
        </p:nvSpPr>
        <p:spPr>
          <a:xfrm>
            <a:off x="5532120" y="2935080"/>
            <a:ext cx="50256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33"/>
          <p:cNvSpPr/>
          <p:nvPr/>
        </p:nvSpPr>
        <p:spPr>
          <a:xfrm>
            <a:off x="5559480" y="2935080"/>
            <a:ext cx="447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KO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34"/>
          <p:cNvSpPr/>
          <p:nvPr/>
        </p:nvSpPr>
        <p:spPr>
          <a:xfrm>
            <a:off x="6071760" y="2935080"/>
            <a:ext cx="74952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5"/>
          <p:cNvSpPr/>
          <p:nvPr/>
        </p:nvSpPr>
        <p:spPr>
          <a:xfrm>
            <a:off x="6099120" y="2935080"/>
            <a:ext cx="694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+45.25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36"/>
          <p:cNvSpPr/>
          <p:nvPr/>
        </p:nvSpPr>
        <p:spPr>
          <a:xfrm>
            <a:off x="6858000" y="2935080"/>
            <a:ext cx="59400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37"/>
          <p:cNvSpPr/>
          <p:nvPr/>
        </p:nvSpPr>
        <p:spPr>
          <a:xfrm>
            <a:off x="6885360" y="293508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8"/>
          <p:cNvSpPr/>
          <p:nvPr/>
        </p:nvSpPr>
        <p:spPr>
          <a:xfrm>
            <a:off x="7489080" y="2935080"/>
            <a:ext cx="59400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39"/>
          <p:cNvSpPr/>
          <p:nvPr/>
        </p:nvSpPr>
        <p:spPr>
          <a:xfrm>
            <a:off x="7516440" y="293508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62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40"/>
          <p:cNvSpPr/>
          <p:nvPr/>
        </p:nvSpPr>
        <p:spPr>
          <a:xfrm>
            <a:off x="8119800" y="2935080"/>
            <a:ext cx="978120" cy="575640"/>
          </a:xfrm>
          <a:prstGeom prst="rect">
            <a:avLst/>
          </a:prstGeom>
          <a:solidFill>
            <a:srgbClr val="132b3f"/>
          </a:solidFill>
          <a:ln w="6350">
            <a:solidFill>
              <a:srgbClr val="1d4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41"/>
          <p:cNvSpPr/>
          <p:nvPr/>
        </p:nvSpPr>
        <p:spPr>
          <a:xfrm>
            <a:off x="8147160" y="2935080"/>
            <a:ext cx="923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3/5 (60.0%)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42"/>
          <p:cNvSpPr/>
          <p:nvPr/>
        </p:nvSpPr>
        <p:spPr>
          <a:xfrm>
            <a:off x="5532120" y="3593520"/>
            <a:ext cx="502560" cy="57564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43"/>
          <p:cNvSpPr/>
          <p:nvPr/>
        </p:nvSpPr>
        <p:spPr>
          <a:xfrm>
            <a:off x="5559480" y="3593520"/>
            <a:ext cx="4478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UK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44"/>
          <p:cNvSpPr/>
          <p:nvPr/>
        </p:nvSpPr>
        <p:spPr>
          <a:xfrm>
            <a:off x="6071760" y="3593520"/>
            <a:ext cx="749520" cy="57564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5"/>
          <p:cNvSpPr/>
          <p:nvPr/>
        </p:nvSpPr>
        <p:spPr>
          <a:xfrm>
            <a:off x="6099120" y="3593520"/>
            <a:ext cx="6944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+84.78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46"/>
          <p:cNvSpPr/>
          <p:nvPr/>
        </p:nvSpPr>
        <p:spPr>
          <a:xfrm>
            <a:off x="6858000" y="3593520"/>
            <a:ext cx="594000" cy="57564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47"/>
          <p:cNvSpPr/>
          <p:nvPr/>
        </p:nvSpPr>
        <p:spPr>
          <a:xfrm>
            <a:off x="6885360" y="359352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48"/>
          <p:cNvSpPr/>
          <p:nvPr/>
        </p:nvSpPr>
        <p:spPr>
          <a:xfrm>
            <a:off x="7489080" y="3593520"/>
            <a:ext cx="594000" cy="57564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49"/>
          <p:cNvSpPr/>
          <p:nvPr/>
        </p:nvSpPr>
        <p:spPr>
          <a:xfrm>
            <a:off x="7516440" y="3593520"/>
            <a:ext cx="53928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50"/>
          <p:cNvSpPr/>
          <p:nvPr/>
        </p:nvSpPr>
        <p:spPr>
          <a:xfrm>
            <a:off x="8119800" y="3593520"/>
            <a:ext cx="978120" cy="575640"/>
          </a:xfrm>
          <a:prstGeom prst="rect">
            <a:avLst/>
          </a:prstGeom>
          <a:solidFill>
            <a:srgbClr val="3d1515"/>
          </a:solidFill>
          <a:ln w="635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51"/>
          <p:cNvSpPr/>
          <p:nvPr/>
        </p:nvSpPr>
        <p:spPr>
          <a:xfrm>
            <a:off x="8147160" y="3593520"/>
            <a:ext cx="9230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1/8 (12.5%)</a:t>
            </a:r>
            <a:endParaRPr b="0" lang="en-US" sz="9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2"/>
          <p:cNvSpPr/>
          <p:nvPr/>
        </p:nvSpPr>
        <p:spPr>
          <a:xfrm>
            <a:off x="5532120" y="4297680"/>
            <a:ext cx="3474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5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Unchn% — речення, що не зазнали змiн. KO=62%: агглютинативна морфологiя складна для mT5.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53"/>
          <p:cNvSpPr/>
          <p:nvPr/>
        </p:nvSpPr>
        <p:spPr>
          <a:xfrm>
            <a:off x="5532120" y="4645080"/>
            <a:ext cx="34743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Закон Гудхарта: UK BLEU=84.86 — пунктуацiйнi патерни UA-GEC, не виправлення помилок учнiв</a:t>
            </a:r>
            <a:endParaRPr b="0" lang="en-US" sz="9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Адаптивна система навчання — RandomForest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3"/>
          <p:cNvSpPr/>
          <p:nvPr/>
        </p:nvSpPr>
        <p:spPr>
          <a:xfrm>
            <a:off x="274320" y="987480"/>
            <a:ext cx="2194200" cy="658080"/>
          </a:xfrm>
          <a:prstGeom prst="rect">
            <a:avLst/>
          </a:prstGeom>
          <a:solidFill>
            <a:srgbClr val="e8f4fd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4"/>
          <p:cNvSpPr/>
          <p:nvPr/>
        </p:nvSpPr>
        <p:spPr>
          <a:xfrm>
            <a:off x="274320" y="987480"/>
            <a:ext cx="21942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&lt; 25 взаємодій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(cold start)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5"/>
          <p:cNvSpPr/>
          <p:nvPr/>
        </p:nvSpPr>
        <p:spPr>
          <a:xfrm>
            <a:off x="2468880" y="1316520"/>
            <a:ext cx="54864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6"/>
          <p:cNvSpPr/>
          <p:nvPr/>
        </p:nvSpPr>
        <p:spPr>
          <a:xfrm>
            <a:off x="3017520" y="987480"/>
            <a:ext cx="2925720" cy="658080"/>
          </a:xfrm>
          <a:prstGeom prst="rect">
            <a:avLst/>
          </a:prstGeom>
          <a:solidFill>
            <a:srgbClr val="e8f8f4"/>
          </a:solidFill>
          <a:ln w="1905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3017520" y="987480"/>
            <a:ext cx="2925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RandomForest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features: avg_similarity, avg_time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8"/>
          <p:cNvSpPr/>
          <p:nvPr/>
        </p:nvSpPr>
        <p:spPr>
          <a:xfrm>
            <a:off x="5943600" y="1316520"/>
            <a:ext cx="457200" cy="360"/>
          </a:xfrm>
          <a:prstGeom prst="line">
            <a:avLst/>
          </a:prstGeom>
          <a:ln w="1524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9"/>
          <p:cNvSpPr/>
          <p:nvPr/>
        </p:nvSpPr>
        <p:spPr>
          <a:xfrm>
            <a:off x="6400800" y="1051560"/>
            <a:ext cx="2011320" cy="529920"/>
          </a:xfrm>
          <a:prstGeom prst="ellipse">
            <a:avLst/>
          </a:prstGeom>
          <a:solidFill>
            <a:srgbClr val="045a6a"/>
          </a:solidFill>
          <a:ln w="1524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0"/>
          <p:cNvSpPr/>
          <p:nvPr/>
        </p:nvSpPr>
        <p:spPr>
          <a:xfrm>
            <a:off x="6400800" y="1051560"/>
            <a:ext cx="20113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p(успіху на кроках 7-8)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1"/>
          <p:cNvSpPr/>
          <p:nvPr/>
        </p:nvSpPr>
        <p:spPr>
          <a:xfrm>
            <a:off x="274320" y="1965960"/>
            <a:ext cx="8503560" cy="776880"/>
          </a:xfrm>
          <a:prstGeom prst="rect">
            <a:avLst/>
          </a:prstGeom>
          <a:solidFill>
            <a:srgbClr val="e8faf2"/>
          </a:solidFill>
          <a:ln w="1270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2"/>
          <p:cNvSpPr/>
          <p:nvPr/>
        </p:nvSpPr>
        <p:spPr>
          <a:xfrm>
            <a:off x="411480" y="201168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p ≥ 0.75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3"/>
          <p:cNvSpPr/>
          <p:nvPr/>
        </p:nvSpPr>
        <p:spPr>
          <a:xfrm>
            <a:off x="411480" y="23684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SKIP_EASY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4"/>
          <p:cNvSpPr/>
          <p:nvPr/>
        </p:nvSpPr>
        <p:spPr>
          <a:xfrm>
            <a:off x="2514600" y="209412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[1,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5"/>
          <p:cNvSpPr/>
          <p:nvPr/>
        </p:nvSpPr>
        <p:spPr>
          <a:xfrm>
            <a:off x="2514600" y="24231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Пропуск кроків 2, 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6"/>
          <p:cNvSpPr/>
          <p:nvPr/>
        </p:nvSpPr>
        <p:spPr>
          <a:xfrm>
            <a:off x="274320" y="2926080"/>
            <a:ext cx="8503560" cy="776880"/>
          </a:xfrm>
          <a:prstGeom prst="rect">
            <a:avLst/>
          </a:prstGeom>
          <a:solidFill>
            <a:srgbClr val="e0f0f2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7"/>
          <p:cNvSpPr/>
          <p:nvPr/>
        </p:nvSpPr>
        <p:spPr>
          <a:xfrm>
            <a:off x="411480" y="297180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8090"/>
                </a:solidFill>
                <a:effectLst/>
                <a:uFillTx/>
                <a:latin typeface="Consolas"/>
                <a:ea typeface="Consolas"/>
              </a:rPr>
              <a:t>0.45 ≤ p &lt; 0.75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18"/>
          <p:cNvSpPr/>
          <p:nvPr/>
        </p:nvSpPr>
        <p:spPr>
          <a:xfrm>
            <a:off x="411480" y="33285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FULL_SEQUENCE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9"/>
          <p:cNvSpPr/>
          <p:nvPr/>
        </p:nvSpPr>
        <p:spPr>
          <a:xfrm>
            <a:off x="2514600" y="30542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8090"/>
                </a:solidFill>
                <a:effectLst/>
                <a:uFillTx/>
                <a:latin typeface="Consolas"/>
                <a:ea typeface="Consolas"/>
              </a:rPr>
              <a:t>[1, 2, 3,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0"/>
          <p:cNvSpPr/>
          <p:nvPr/>
        </p:nvSpPr>
        <p:spPr>
          <a:xfrm>
            <a:off x="2514600" y="33832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Повна послідовність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21"/>
          <p:cNvSpPr/>
          <p:nvPr/>
        </p:nvSpPr>
        <p:spPr>
          <a:xfrm>
            <a:off x="274320" y="3886200"/>
            <a:ext cx="8503560" cy="776880"/>
          </a:xfrm>
          <a:prstGeom prst="rect">
            <a:avLst/>
          </a:prstGeom>
          <a:solidFill>
            <a:srgbClr val="fde8e8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22"/>
          <p:cNvSpPr/>
          <p:nvPr/>
        </p:nvSpPr>
        <p:spPr>
          <a:xfrm>
            <a:off x="411480" y="3931920"/>
            <a:ext cx="20113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05252"/>
                </a:solidFill>
                <a:effectLst/>
                <a:uFillTx/>
                <a:latin typeface="Consolas"/>
                <a:ea typeface="Consolas"/>
              </a:rPr>
              <a:t>p &lt; 0.45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3"/>
          <p:cNvSpPr/>
          <p:nvPr/>
        </p:nvSpPr>
        <p:spPr>
          <a:xfrm>
            <a:off x="411480" y="42886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EXTRA_REPEAT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24"/>
          <p:cNvSpPr/>
          <p:nvPr/>
        </p:nvSpPr>
        <p:spPr>
          <a:xfrm>
            <a:off x="2514600" y="40143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05252"/>
                </a:solidFill>
                <a:effectLst/>
                <a:uFillTx/>
                <a:latin typeface="Consolas"/>
                <a:ea typeface="Consolas"/>
              </a:rPr>
              <a:t>[1, 2, 2, 3, 4, 5, 6, 7, 8]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5"/>
          <p:cNvSpPr/>
          <p:nvPr/>
        </p:nvSpPr>
        <p:spPr>
          <a:xfrm>
            <a:off x="2514600" y="434340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Подвійне повторення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26"/>
          <p:cNvSpPr/>
          <p:nvPr/>
        </p:nvSpPr>
        <p:spPr>
          <a:xfrm>
            <a:off x="274320" y="4754880"/>
            <a:ext cx="8503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Consolas"/>
                <a:ea typeface="Consolas"/>
              </a:rPr>
              <a:t>RF params: n_estimators=50, max_depth=4, class_weight='balanced', random_state=42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Система гейміфікації та мотивації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"/>
          <p:cNvSpPr/>
          <p:nvPr/>
        </p:nvSpPr>
        <p:spPr>
          <a:xfrm>
            <a:off x="274320" y="9601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3"/>
          <p:cNvSpPr/>
          <p:nvPr/>
        </p:nvSpPr>
        <p:spPr>
          <a:xfrm>
            <a:off x="402480" y="10515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⭐ XP-система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4"/>
          <p:cNvSpPr/>
          <p:nvPr/>
        </p:nvSpPr>
        <p:spPr>
          <a:xfrm>
            <a:off x="402480" y="14356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+5–20 XP за крок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5"/>
          <p:cNvSpPr/>
          <p:nvPr/>
        </p:nvSpPr>
        <p:spPr>
          <a:xfrm>
            <a:off x="402480" y="17830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+5 XP бонус при accuracy &gt;80%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6"/>
          <p:cNvSpPr/>
          <p:nvPr/>
        </p:nvSpPr>
        <p:spPr>
          <a:xfrm>
            <a:off x="402480" y="2130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+30 XP за урок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3246120" y="9601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3374280" y="10515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🏆 7 рівнів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9"/>
          <p:cNvSpPr/>
          <p:nvPr/>
        </p:nvSpPr>
        <p:spPr>
          <a:xfrm>
            <a:off x="3374280" y="14356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Beginner → Master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0"/>
          <p:cNvSpPr/>
          <p:nvPr/>
        </p:nvSpPr>
        <p:spPr>
          <a:xfrm>
            <a:off x="3374280" y="17830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Прогресивні XP-пороги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1"/>
          <p:cNvSpPr/>
          <p:nvPr/>
        </p:nvSpPr>
        <p:spPr>
          <a:xfrm>
            <a:off x="3374280" y="2130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Видимий прогрес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2"/>
          <p:cNvSpPr/>
          <p:nvPr/>
        </p:nvSpPr>
        <p:spPr>
          <a:xfrm>
            <a:off x="6217920" y="9601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e052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3"/>
          <p:cNvSpPr/>
          <p:nvPr/>
        </p:nvSpPr>
        <p:spPr>
          <a:xfrm>
            <a:off x="6346080" y="10515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e05252"/>
                </a:solidFill>
                <a:effectLst/>
                <a:uFillTx/>
                <a:latin typeface="Calibri"/>
                <a:ea typeface="Calibri"/>
              </a:rPr>
              <a:t>🔥 Streaks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4"/>
          <p:cNvSpPr/>
          <p:nvPr/>
        </p:nvSpPr>
        <p:spPr>
          <a:xfrm>
            <a:off x="6346080" y="14356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Щоденна серія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15"/>
          <p:cNvSpPr/>
          <p:nvPr/>
        </p:nvSpPr>
        <p:spPr>
          <a:xfrm>
            <a:off x="6346080" y="17830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Скидання при пропуску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6"/>
          <p:cNvSpPr/>
          <p:nvPr/>
        </p:nvSpPr>
        <p:spPr>
          <a:xfrm>
            <a:off x="6346080" y="2130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Стимул регулярності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7"/>
          <p:cNvSpPr/>
          <p:nvPr/>
        </p:nvSpPr>
        <p:spPr>
          <a:xfrm>
            <a:off x="274320" y="27889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8"/>
          <p:cNvSpPr/>
          <p:nvPr/>
        </p:nvSpPr>
        <p:spPr>
          <a:xfrm>
            <a:off x="40248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8090"/>
                </a:solidFill>
                <a:effectLst/>
                <a:uFillTx/>
                <a:latin typeface="Calibri"/>
                <a:ea typeface="Calibri"/>
              </a:rPr>
              <a:t>🎖 11 бейджів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9"/>
          <p:cNvSpPr/>
          <p:nvPr/>
        </p:nvSpPr>
        <p:spPr>
          <a:xfrm>
            <a:off x="402480" y="3264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Перший урок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20"/>
          <p:cNvSpPr/>
          <p:nvPr/>
        </p:nvSpPr>
        <p:spPr>
          <a:xfrm>
            <a:off x="402480" y="36118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7-денний стрік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1"/>
          <p:cNvSpPr/>
          <p:nvPr/>
        </p:nvSpPr>
        <p:spPr>
          <a:xfrm>
            <a:off x="402480" y="39592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100 уроків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2"/>
          <p:cNvSpPr/>
          <p:nvPr/>
        </p:nvSpPr>
        <p:spPr>
          <a:xfrm>
            <a:off x="402480" y="43066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Висока точність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23"/>
          <p:cNvSpPr/>
          <p:nvPr/>
        </p:nvSpPr>
        <p:spPr>
          <a:xfrm>
            <a:off x="3246120" y="27889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90b4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24"/>
          <p:cNvSpPr/>
          <p:nvPr/>
        </p:nvSpPr>
        <p:spPr>
          <a:xfrm>
            <a:off x="337428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📊 Логування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5"/>
          <p:cNvSpPr/>
          <p:nvPr/>
        </p:nvSpPr>
        <p:spPr>
          <a:xfrm>
            <a:off x="3374280" y="3264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CSV по кожному користувачу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26"/>
          <p:cNvSpPr/>
          <p:nvPr/>
        </p:nvSpPr>
        <p:spPr>
          <a:xfrm>
            <a:off x="3374280" y="36118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Google Sheets хмара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7"/>
          <p:cNvSpPr/>
          <p:nvPr/>
        </p:nvSpPr>
        <p:spPr>
          <a:xfrm>
            <a:off x="3374280" y="39592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1 126 записів (пілот)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8"/>
          <p:cNvSpPr/>
          <p:nvPr/>
        </p:nvSpPr>
        <p:spPr>
          <a:xfrm>
            <a:off x="6217920" y="2788920"/>
            <a:ext cx="2697120" cy="1599840"/>
          </a:xfrm>
          <a:prstGeom prst="rect">
            <a:avLst/>
          </a:prstGeom>
          <a:solidFill>
            <a:srgbClr val="132b3f"/>
          </a:solidFill>
          <a:ln w="1270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9"/>
          <p:cNvSpPr/>
          <p:nvPr/>
        </p:nvSpPr>
        <p:spPr>
          <a:xfrm>
            <a:off x="634608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a78bfa"/>
                </a:solidFill>
                <a:effectLst/>
                <a:uFillTx/>
                <a:latin typeface="Calibri"/>
                <a:ea typeface="Calibri"/>
              </a:rPr>
              <a:t>🧠 SDT (Ryan &amp; Deci)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30"/>
          <p:cNvSpPr/>
          <p:nvPr/>
        </p:nvSpPr>
        <p:spPr>
          <a:xfrm>
            <a:off x="6346080" y="32644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Зовнішня мотивація → початок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31"/>
          <p:cNvSpPr/>
          <p:nvPr/>
        </p:nvSpPr>
        <p:spPr>
          <a:xfrm>
            <a:off x="6346080" y="36118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Підтримка до формування внутр.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32"/>
          <p:cNvSpPr/>
          <p:nvPr/>
        </p:nvSpPr>
        <p:spPr>
          <a:xfrm>
            <a:off x="6346080" y="395928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· Retention = ключ у CALL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Результати аналізу логів — схожість по кроках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9" name="Chart 0"/>
          <p:cNvGraphicFramePr/>
          <p:nvPr/>
        </p:nvGraphicFramePr>
        <p:xfrm>
          <a:off x="274320" y="914400"/>
          <a:ext cx="5303160" cy="347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40" name="Chart 1"/>
          <p:cNvGraphicFramePr/>
          <p:nvPr/>
        </p:nvGraphicFramePr>
        <p:xfrm>
          <a:off x="5669280" y="914400"/>
          <a:ext cx="3245760" cy="3474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1" name="Text 3"/>
          <p:cNvSpPr/>
          <p:nvPr/>
        </p:nvSpPr>
        <p:spPr>
          <a:xfrm>
            <a:off x="274320" y="4434840"/>
            <a:ext cx="530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Середня схожість по кроках (n=1 126)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4"/>
          <p:cNvSpPr/>
          <p:nvPr/>
        </p:nvSpPr>
        <p:spPr>
          <a:xfrm>
            <a:off x="5669280" y="443484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Pass rate по кроках (%)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5"/>
          <p:cNvSpPr/>
          <p:nvPr/>
        </p:nvSpPr>
        <p:spPr>
          <a:xfrm>
            <a:off x="274320" y="4736520"/>
            <a:ext cx="8549280" cy="255600"/>
          </a:xfrm>
          <a:prstGeom prst="rect">
            <a:avLst/>
          </a:prstGeom>
          <a:solidFill>
            <a:srgbClr val="fff8e1"/>
          </a:solidFill>
          <a:ln w="635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6"/>
          <p:cNvSpPr/>
          <p:nvPr/>
        </p:nvSpPr>
        <p:spPr>
          <a:xfrm>
            <a:off x="384120" y="4745880"/>
            <a:ext cx="8320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7a5c00"/>
                </a:solidFill>
                <a:effectLst/>
                <a:uFillTx/>
                <a:latin typeface="Calibri"/>
                <a:ea typeface="Calibri"/>
              </a:rPr>
              <a:t>⚠  Кроки 2 (Listen) і 5 (Shadow) — вимовні вправи, low pass rate (~5%) через строгий поріг STT (0.82)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Статистичний аналіз — Welch t-тест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"/>
          <p:cNvSpPr/>
          <p:nvPr/>
        </p:nvSpPr>
        <p:spPr>
          <a:xfrm>
            <a:off x="274320" y="868680"/>
            <a:ext cx="8503560" cy="65808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3"/>
          <p:cNvSpPr/>
          <p:nvPr/>
        </p:nvSpPr>
        <p:spPr>
          <a:xfrm>
            <a:off x="411480" y="896040"/>
            <a:ext cx="8229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H₁: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після повного навчального алгоритму (кроки 1→8) схожість відповідей покращується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4"/>
          <p:cNvSpPr/>
          <p:nvPr/>
        </p:nvSpPr>
        <p:spPr>
          <a:xfrm>
            <a:off x="274320" y="1664280"/>
            <a:ext cx="1828440" cy="456840"/>
          </a:xfrm>
          <a:prstGeom prst="rect">
            <a:avLst/>
          </a:prstGeom>
          <a:solidFill>
            <a:srgbClr val="1a6678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5"/>
          <p:cNvSpPr/>
          <p:nvPr/>
        </p:nvSpPr>
        <p:spPr>
          <a:xfrm>
            <a:off x="329040" y="16642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Порівняння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6"/>
          <p:cNvSpPr/>
          <p:nvPr/>
        </p:nvSpPr>
        <p:spPr>
          <a:xfrm>
            <a:off x="2194560" y="1664280"/>
            <a:ext cx="1645560" cy="456840"/>
          </a:xfrm>
          <a:prstGeom prst="rect">
            <a:avLst/>
          </a:prstGeom>
          <a:solidFill>
            <a:srgbClr val="1a6678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7"/>
          <p:cNvSpPr/>
          <p:nvPr/>
        </p:nvSpPr>
        <p:spPr>
          <a:xfrm>
            <a:off x="2249280" y="16642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t-статистика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8"/>
          <p:cNvSpPr/>
          <p:nvPr/>
        </p:nvSpPr>
        <p:spPr>
          <a:xfrm>
            <a:off x="3931920" y="1664280"/>
            <a:ext cx="1645560" cy="456840"/>
          </a:xfrm>
          <a:prstGeom prst="rect">
            <a:avLst/>
          </a:prstGeom>
          <a:solidFill>
            <a:srgbClr val="1a6678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9"/>
          <p:cNvSpPr/>
          <p:nvPr/>
        </p:nvSpPr>
        <p:spPr>
          <a:xfrm>
            <a:off x="3986640" y="16642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p-значення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0"/>
          <p:cNvSpPr/>
          <p:nvPr/>
        </p:nvSpPr>
        <p:spPr>
          <a:xfrm>
            <a:off x="5669280" y="1664280"/>
            <a:ext cx="1188360" cy="456840"/>
          </a:xfrm>
          <a:prstGeom prst="rect">
            <a:avLst/>
          </a:prstGeom>
          <a:solidFill>
            <a:srgbClr val="1a6678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1"/>
          <p:cNvSpPr/>
          <p:nvPr/>
        </p:nvSpPr>
        <p:spPr>
          <a:xfrm>
            <a:off x="5724000" y="16642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Δ mean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2"/>
          <p:cNvSpPr/>
          <p:nvPr/>
        </p:nvSpPr>
        <p:spPr>
          <a:xfrm>
            <a:off x="6949440" y="1664280"/>
            <a:ext cx="1919880" cy="456840"/>
          </a:xfrm>
          <a:prstGeom prst="rect">
            <a:avLst/>
          </a:prstGeom>
          <a:solidFill>
            <a:srgbClr val="1a6678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3"/>
          <p:cNvSpPr/>
          <p:nvPr/>
        </p:nvSpPr>
        <p:spPr>
          <a:xfrm>
            <a:off x="7004160" y="16642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Висновок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4"/>
          <p:cNvSpPr/>
          <p:nvPr/>
        </p:nvSpPr>
        <p:spPr>
          <a:xfrm>
            <a:off x="274320" y="2176200"/>
            <a:ext cx="182844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5"/>
          <p:cNvSpPr/>
          <p:nvPr/>
        </p:nvSpPr>
        <p:spPr>
          <a:xfrm>
            <a:off x="329040" y="21762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Крок 1 vs 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6"/>
          <p:cNvSpPr/>
          <p:nvPr/>
        </p:nvSpPr>
        <p:spPr>
          <a:xfrm>
            <a:off x="2194560" y="21762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7"/>
          <p:cNvSpPr/>
          <p:nvPr/>
        </p:nvSpPr>
        <p:spPr>
          <a:xfrm>
            <a:off x="2249280" y="2176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 = −0.850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8"/>
          <p:cNvSpPr/>
          <p:nvPr/>
        </p:nvSpPr>
        <p:spPr>
          <a:xfrm>
            <a:off x="3931920" y="21762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9"/>
          <p:cNvSpPr/>
          <p:nvPr/>
        </p:nvSpPr>
        <p:spPr>
          <a:xfrm>
            <a:off x="3986640" y="2176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 = 0.3983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20"/>
          <p:cNvSpPr/>
          <p:nvPr/>
        </p:nvSpPr>
        <p:spPr>
          <a:xfrm>
            <a:off x="5669280" y="2176200"/>
            <a:ext cx="11883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21"/>
          <p:cNvSpPr/>
          <p:nvPr/>
        </p:nvSpPr>
        <p:spPr>
          <a:xfrm>
            <a:off x="5724000" y="21762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+0.051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22"/>
          <p:cNvSpPr/>
          <p:nvPr/>
        </p:nvSpPr>
        <p:spPr>
          <a:xfrm>
            <a:off x="6949440" y="2176200"/>
            <a:ext cx="191988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23"/>
          <p:cNvSpPr/>
          <p:nvPr/>
        </p:nvSpPr>
        <p:spPr>
          <a:xfrm>
            <a:off x="7004160" y="21762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0b4bc"/>
                </a:solidFill>
                <a:effectLst/>
                <a:uFillTx/>
                <a:latin typeface="Consolas"/>
                <a:ea typeface="Consolas"/>
              </a:rPr>
              <a:t>H₀ не відхил.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24"/>
          <p:cNvSpPr/>
          <p:nvPr/>
        </p:nvSpPr>
        <p:spPr>
          <a:xfrm>
            <a:off x="274320" y="2688480"/>
            <a:ext cx="1828440" cy="456840"/>
          </a:xfrm>
          <a:prstGeom prst="rect">
            <a:avLst/>
          </a:prstGeom>
          <a:solidFill>
            <a:srgbClr val="0f2233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25"/>
          <p:cNvSpPr/>
          <p:nvPr/>
        </p:nvSpPr>
        <p:spPr>
          <a:xfrm>
            <a:off x="329040" y="268848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Крок 1 vs 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26"/>
          <p:cNvSpPr/>
          <p:nvPr/>
        </p:nvSpPr>
        <p:spPr>
          <a:xfrm>
            <a:off x="2194560" y="2688480"/>
            <a:ext cx="1645560" cy="456840"/>
          </a:xfrm>
          <a:prstGeom prst="rect">
            <a:avLst/>
          </a:prstGeom>
          <a:solidFill>
            <a:srgbClr val="0f2233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7"/>
          <p:cNvSpPr/>
          <p:nvPr/>
        </p:nvSpPr>
        <p:spPr>
          <a:xfrm>
            <a:off x="2249280" y="2688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 = −0.842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28"/>
          <p:cNvSpPr/>
          <p:nvPr/>
        </p:nvSpPr>
        <p:spPr>
          <a:xfrm>
            <a:off x="3931920" y="2688480"/>
            <a:ext cx="1645560" cy="456840"/>
          </a:xfrm>
          <a:prstGeom prst="rect">
            <a:avLst/>
          </a:prstGeom>
          <a:solidFill>
            <a:srgbClr val="0f2233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9"/>
          <p:cNvSpPr/>
          <p:nvPr/>
        </p:nvSpPr>
        <p:spPr>
          <a:xfrm>
            <a:off x="3986640" y="268848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 = 0.4020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30"/>
          <p:cNvSpPr/>
          <p:nvPr/>
        </p:nvSpPr>
        <p:spPr>
          <a:xfrm>
            <a:off x="5669280" y="2688480"/>
            <a:ext cx="1188360" cy="456840"/>
          </a:xfrm>
          <a:prstGeom prst="rect">
            <a:avLst/>
          </a:prstGeom>
          <a:solidFill>
            <a:srgbClr val="0f2233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31"/>
          <p:cNvSpPr/>
          <p:nvPr/>
        </p:nvSpPr>
        <p:spPr>
          <a:xfrm>
            <a:off x="5724000" y="268848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+0.045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32"/>
          <p:cNvSpPr/>
          <p:nvPr/>
        </p:nvSpPr>
        <p:spPr>
          <a:xfrm>
            <a:off x="6949440" y="2688480"/>
            <a:ext cx="1919880" cy="456840"/>
          </a:xfrm>
          <a:prstGeom prst="rect">
            <a:avLst/>
          </a:prstGeom>
          <a:solidFill>
            <a:srgbClr val="0f2233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33"/>
          <p:cNvSpPr/>
          <p:nvPr/>
        </p:nvSpPr>
        <p:spPr>
          <a:xfrm>
            <a:off x="7004160" y="268848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0b4bc"/>
                </a:solidFill>
                <a:effectLst/>
                <a:uFillTx/>
                <a:latin typeface="Consolas"/>
                <a:ea typeface="Consolas"/>
              </a:rPr>
              <a:t>H₀ не відхил.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34"/>
          <p:cNvSpPr/>
          <p:nvPr/>
        </p:nvSpPr>
        <p:spPr>
          <a:xfrm>
            <a:off x="274320" y="3200400"/>
            <a:ext cx="182844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35"/>
          <p:cNvSpPr/>
          <p:nvPr/>
        </p:nvSpPr>
        <p:spPr>
          <a:xfrm>
            <a:off x="329040" y="32004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Крок 6 vs 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36"/>
          <p:cNvSpPr/>
          <p:nvPr/>
        </p:nvSpPr>
        <p:spPr>
          <a:xfrm>
            <a:off x="2194560" y="32004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37"/>
          <p:cNvSpPr/>
          <p:nvPr/>
        </p:nvSpPr>
        <p:spPr>
          <a:xfrm>
            <a:off x="2249280" y="32004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 = +0.114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38"/>
          <p:cNvSpPr/>
          <p:nvPr/>
        </p:nvSpPr>
        <p:spPr>
          <a:xfrm>
            <a:off x="3931920" y="32004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39"/>
          <p:cNvSpPr/>
          <p:nvPr/>
        </p:nvSpPr>
        <p:spPr>
          <a:xfrm>
            <a:off x="3986640" y="32004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 = 0.9094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40"/>
          <p:cNvSpPr/>
          <p:nvPr/>
        </p:nvSpPr>
        <p:spPr>
          <a:xfrm>
            <a:off x="5669280" y="3200400"/>
            <a:ext cx="11883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41"/>
          <p:cNvSpPr/>
          <p:nvPr/>
        </p:nvSpPr>
        <p:spPr>
          <a:xfrm>
            <a:off x="5724000" y="32004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−0.006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42"/>
          <p:cNvSpPr/>
          <p:nvPr/>
        </p:nvSpPr>
        <p:spPr>
          <a:xfrm>
            <a:off x="6949440" y="3200400"/>
            <a:ext cx="191988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43"/>
          <p:cNvSpPr/>
          <p:nvPr/>
        </p:nvSpPr>
        <p:spPr>
          <a:xfrm>
            <a:off x="7004160" y="32004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0b4bc"/>
                </a:solidFill>
                <a:effectLst/>
                <a:uFillTx/>
                <a:latin typeface="Consolas"/>
                <a:ea typeface="Consolas"/>
              </a:rPr>
              <a:t>H₀ не відхил.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44"/>
          <p:cNvSpPr/>
          <p:nvPr/>
        </p:nvSpPr>
        <p:spPr>
          <a:xfrm>
            <a:off x="274320" y="3712320"/>
            <a:ext cx="1828440" cy="456840"/>
          </a:xfrm>
          <a:prstGeom prst="rect">
            <a:avLst/>
          </a:prstGeom>
          <a:solidFill>
            <a:srgbClr val="1a3d2a"/>
          </a:solidFill>
          <a:ln w="635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45"/>
          <p:cNvSpPr/>
          <p:nvPr/>
        </p:nvSpPr>
        <p:spPr>
          <a:xfrm>
            <a:off x="329040" y="371232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Крок 3 vs 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46"/>
          <p:cNvSpPr/>
          <p:nvPr/>
        </p:nvSpPr>
        <p:spPr>
          <a:xfrm>
            <a:off x="2194560" y="3712320"/>
            <a:ext cx="1645560" cy="456840"/>
          </a:xfrm>
          <a:prstGeom prst="rect">
            <a:avLst/>
          </a:prstGeom>
          <a:solidFill>
            <a:srgbClr val="1a3d2a"/>
          </a:solidFill>
          <a:ln w="635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47"/>
          <p:cNvSpPr/>
          <p:nvPr/>
        </p:nvSpPr>
        <p:spPr>
          <a:xfrm>
            <a:off x="2249280" y="37123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t = +5.717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48"/>
          <p:cNvSpPr/>
          <p:nvPr/>
        </p:nvSpPr>
        <p:spPr>
          <a:xfrm>
            <a:off x="3931920" y="3712320"/>
            <a:ext cx="1645560" cy="456840"/>
          </a:xfrm>
          <a:prstGeom prst="rect">
            <a:avLst/>
          </a:prstGeom>
          <a:solidFill>
            <a:srgbClr val="1a3d2a"/>
          </a:solidFill>
          <a:ln w="635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49"/>
          <p:cNvSpPr/>
          <p:nvPr/>
        </p:nvSpPr>
        <p:spPr>
          <a:xfrm>
            <a:off x="3986640" y="371232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p &lt; 0.0001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50"/>
          <p:cNvSpPr/>
          <p:nvPr/>
        </p:nvSpPr>
        <p:spPr>
          <a:xfrm>
            <a:off x="5669280" y="3712320"/>
            <a:ext cx="1188360" cy="456840"/>
          </a:xfrm>
          <a:prstGeom prst="rect">
            <a:avLst/>
          </a:prstGeom>
          <a:solidFill>
            <a:srgbClr val="1a3d2a"/>
          </a:solidFill>
          <a:ln w="635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51"/>
          <p:cNvSpPr/>
          <p:nvPr/>
        </p:nvSpPr>
        <p:spPr>
          <a:xfrm>
            <a:off x="5724000" y="371232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−0.187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Shape 52"/>
          <p:cNvSpPr/>
          <p:nvPr/>
        </p:nvSpPr>
        <p:spPr>
          <a:xfrm>
            <a:off x="6949440" y="3712320"/>
            <a:ext cx="1919880" cy="456840"/>
          </a:xfrm>
          <a:prstGeom prst="rect">
            <a:avLst/>
          </a:prstGeom>
          <a:solidFill>
            <a:srgbClr val="1a3d2a"/>
          </a:solidFill>
          <a:ln w="6350">
            <a:solidFill>
              <a:srgbClr val="2ecc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53"/>
          <p:cNvSpPr/>
          <p:nvPr/>
        </p:nvSpPr>
        <p:spPr>
          <a:xfrm>
            <a:off x="7004160" y="37123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ecc71"/>
                </a:solidFill>
                <a:effectLst/>
                <a:uFillTx/>
                <a:latin typeface="Consolas"/>
                <a:ea typeface="Consolas"/>
              </a:rPr>
              <a:t>✅ ЗНАЧУЩЕ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54"/>
          <p:cNvSpPr/>
          <p:nvPr/>
        </p:nvSpPr>
        <p:spPr>
          <a:xfrm>
            <a:off x="274320" y="4224600"/>
            <a:ext cx="182844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55"/>
          <p:cNvSpPr/>
          <p:nvPr/>
        </p:nvSpPr>
        <p:spPr>
          <a:xfrm>
            <a:off x="329040" y="4224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Крок 4 vs 7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56"/>
          <p:cNvSpPr/>
          <p:nvPr/>
        </p:nvSpPr>
        <p:spPr>
          <a:xfrm>
            <a:off x="2194560" y="42246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57"/>
          <p:cNvSpPr/>
          <p:nvPr/>
        </p:nvSpPr>
        <p:spPr>
          <a:xfrm>
            <a:off x="2249280" y="4224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t = −0.584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58"/>
          <p:cNvSpPr/>
          <p:nvPr/>
        </p:nvSpPr>
        <p:spPr>
          <a:xfrm>
            <a:off x="3931920" y="4224600"/>
            <a:ext cx="16455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59"/>
          <p:cNvSpPr/>
          <p:nvPr/>
        </p:nvSpPr>
        <p:spPr>
          <a:xfrm>
            <a:off x="3986640" y="4224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p = 0.5610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60"/>
          <p:cNvSpPr/>
          <p:nvPr/>
        </p:nvSpPr>
        <p:spPr>
          <a:xfrm>
            <a:off x="5669280" y="4224600"/>
            <a:ext cx="118836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61"/>
          <p:cNvSpPr/>
          <p:nvPr/>
        </p:nvSpPr>
        <p:spPr>
          <a:xfrm>
            <a:off x="5724000" y="4224600"/>
            <a:ext cx="109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+0.030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62"/>
          <p:cNvSpPr/>
          <p:nvPr/>
        </p:nvSpPr>
        <p:spPr>
          <a:xfrm>
            <a:off x="6949440" y="4224600"/>
            <a:ext cx="1919880" cy="456840"/>
          </a:xfrm>
          <a:prstGeom prst="rect">
            <a:avLst/>
          </a:prstGeom>
          <a:solidFill>
            <a:srgbClr val="132b3f"/>
          </a:solidFill>
          <a:ln w="6350">
            <a:solidFill>
              <a:srgbClr val="1a667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63"/>
          <p:cNvSpPr/>
          <p:nvPr/>
        </p:nvSpPr>
        <p:spPr>
          <a:xfrm>
            <a:off x="7004160" y="422460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90b4bc"/>
                </a:solidFill>
                <a:effectLst/>
                <a:uFillTx/>
                <a:latin typeface="Consolas"/>
                <a:ea typeface="Consolas"/>
              </a:rPr>
              <a:t>H₀ не відхил.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64"/>
          <p:cNvSpPr/>
          <p:nvPr/>
        </p:nvSpPr>
        <p:spPr>
          <a:xfrm>
            <a:off x="274320" y="4572000"/>
            <a:ext cx="8503560" cy="438480"/>
          </a:xfrm>
          <a:prstGeom prst="rect">
            <a:avLst/>
          </a:prstGeom>
          <a:solidFill>
            <a:srgbClr val="132b3f"/>
          </a:solidFill>
          <a:ln w="12700">
            <a:solidFill>
              <a:srgbClr val="f4c4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65"/>
          <p:cNvSpPr/>
          <p:nvPr/>
        </p:nvSpPr>
        <p:spPr>
          <a:xfrm>
            <a:off x="384120" y="4590360"/>
            <a:ext cx="83206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4c430"/>
                </a:solidFill>
                <a:effectLst/>
                <a:uFillTx/>
                <a:latin typeface="Calibri"/>
                <a:ea typeface="Calibri"/>
              </a:rPr>
              <a:t>Висновок: H0 не вiдхиляється (p=0.40 &gt; 0.05) — потрiбна бiльша вибiрка. Dmean&gt;0 вказує на позитивну тенденцiю.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1"/>
          <p:cNvSpPr/>
          <p:nvPr/>
        </p:nvSpPr>
        <p:spPr>
          <a:xfrm>
            <a:off x="457200" y="164520"/>
            <a:ext cx="822924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Порiвняльний аналiз iз iснуючими рiшеннями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2"/>
          <p:cNvSpPr/>
          <p:nvPr/>
        </p:nvSpPr>
        <p:spPr>
          <a:xfrm>
            <a:off x="457200" y="694800"/>
            <a:ext cx="1279800" cy="5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5400" bIns="54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3"/>
          <p:cNvSpPr/>
          <p:nvPr/>
        </p:nvSpPr>
        <p:spPr>
          <a:xfrm>
            <a:off x="274320" y="914400"/>
            <a:ext cx="2514240" cy="45684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4"/>
          <p:cNvSpPr/>
          <p:nvPr/>
        </p:nvSpPr>
        <p:spPr>
          <a:xfrm>
            <a:off x="329040" y="91440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Функцiя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5"/>
          <p:cNvSpPr/>
          <p:nvPr/>
        </p:nvSpPr>
        <p:spPr>
          <a:xfrm>
            <a:off x="2880360" y="914400"/>
            <a:ext cx="1234080" cy="45684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6"/>
          <p:cNvSpPr/>
          <p:nvPr/>
        </p:nvSpPr>
        <p:spPr>
          <a:xfrm>
            <a:off x="2935080" y="91440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Duolingo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7"/>
          <p:cNvSpPr/>
          <p:nvPr/>
        </p:nvSpPr>
        <p:spPr>
          <a:xfrm>
            <a:off x="4206240" y="914400"/>
            <a:ext cx="914040" cy="45684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8"/>
          <p:cNvSpPr/>
          <p:nvPr/>
        </p:nvSpPr>
        <p:spPr>
          <a:xfrm>
            <a:off x="4260960" y="91440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Babbel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9"/>
          <p:cNvSpPr/>
          <p:nvPr/>
        </p:nvSpPr>
        <p:spPr>
          <a:xfrm>
            <a:off x="5212080" y="914400"/>
            <a:ext cx="1051200" cy="456840"/>
          </a:xfrm>
          <a:prstGeom prst="rect">
            <a:avLst/>
          </a:prstGeom>
          <a:solidFill>
            <a:srgbClr val="0f2233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10"/>
          <p:cNvSpPr/>
          <p:nvPr/>
        </p:nvSpPr>
        <p:spPr>
          <a:xfrm>
            <a:off x="5266800" y="914400"/>
            <a:ext cx="959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Rosetta 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1"/>
          <p:cNvSpPr/>
          <p:nvPr/>
        </p:nvSpPr>
        <p:spPr>
          <a:xfrm>
            <a:off x="6355080" y="914400"/>
            <a:ext cx="1462680" cy="456840"/>
          </a:xfrm>
          <a:prstGeom prst="rect">
            <a:avLst/>
          </a:prstGeom>
          <a:solidFill>
            <a:srgbClr val="028090"/>
          </a:solidFill>
          <a:ln w="1016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12"/>
          <p:cNvSpPr/>
          <p:nvPr/>
        </p:nvSpPr>
        <p:spPr>
          <a:xfrm>
            <a:off x="6409800" y="9144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IMLLS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13"/>
          <p:cNvSpPr/>
          <p:nvPr/>
        </p:nvSpPr>
        <p:spPr>
          <a:xfrm>
            <a:off x="274320" y="1426320"/>
            <a:ext cx="25142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4"/>
          <p:cNvSpPr/>
          <p:nvPr/>
        </p:nvSpPr>
        <p:spPr>
          <a:xfrm>
            <a:off x="329040" y="142632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Вимова (STT-based)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5"/>
          <p:cNvSpPr/>
          <p:nvPr/>
        </p:nvSpPr>
        <p:spPr>
          <a:xfrm>
            <a:off x="2880360" y="1426320"/>
            <a:ext cx="123408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6"/>
          <p:cNvSpPr/>
          <p:nvPr/>
        </p:nvSpPr>
        <p:spPr>
          <a:xfrm>
            <a:off x="2935080" y="142632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7"/>
          <p:cNvSpPr/>
          <p:nvPr/>
        </p:nvSpPr>
        <p:spPr>
          <a:xfrm>
            <a:off x="4206240" y="1426320"/>
            <a:ext cx="9140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8"/>
          <p:cNvSpPr/>
          <p:nvPr/>
        </p:nvSpPr>
        <p:spPr>
          <a:xfrm>
            <a:off x="4260960" y="142632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9"/>
          <p:cNvSpPr/>
          <p:nvPr/>
        </p:nvSpPr>
        <p:spPr>
          <a:xfrm>
            <a:off x="5212080" y="1426320"/>
            <a:ext cx="105120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0"/>
          <p:cNvSpPr/>
          <p:nvPr/>
        </p:nvSpPr>
        <p:spPr>
          <a:xfrm>
            <a:off x="5266800" y="142632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21"/>
          <p:cNvSpPr/>
          <p:nvPr/>
        </p:nvSpPr>
        <p:spPr>
          <a:xfrm>
            <a:off x="6355080" y="142632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2"/>
          <p:cNvSpPr/>
          <p:nvPr/>
        </p:nvSpPr>
        <p:spPr>
          <a:xfrm>
            <a:off x="6409800" y="142632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3"/>
          <p:cNvSpPr/>
          <p:nvPr/>
        </p:nvSpPr>
        <p:spPr>
          <a:xfrm>
            <a:off x="274320" y="1874520"/>
            <a:ext cx="25142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24"/>
          <p:cNvSpPr/>
          <p:nvPr/>
        </p:nvSpPr>
        <p:spPr>
          <a:xfrm>
            <a:off x="329040" y="187452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GEC (граматика)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25"/>
          <p:cNvSpPr/>
          <p:nvPr/>
        </p:nvSpPr>
        <p:spPr>
          <a:xfrm>
            <a:off x="2880360" y="1874520"/>
            <a:ext cx="123408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26"/>
          <p:cNvSpPr/>
          <p:nvPr/>
        </p:nvSpPr>
        <p:spPr>
          <a:xfrm>
            <a:off x="2935080" y="187452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27"/>
          <p:cNvSpPr/>
          <p:nvPr/>
        </p:nvSpPr>
        <p:spPr>
          <a:xfrm>
            <a:off x="4206240" y="1874520"/>
            <a:ext cx="9140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8"/>
          <p:cNvSpPr/>
          <p:nvPr/>
        </p:nvSpPr>
        <p:spPr>
          <a:xfrm>
            <a:off x="4260960" y="187452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29"/>
          <p:cNvSpPr/>
          <p:nvPr/>
        </p:nvSpPr>
        <p:spPr>
          <a:xfrm>
            <a:off x="5212080" y="1874520"/>
            <a:ext cx="105120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30"/>
          <p:cNvSpPr/>
          <p:nvPr/>
        </p:nvSpPr>
        <p:spPr>
          <a:xfrm>
            <a:off x="5266800" y="187452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31"/>
          <p:cNvSpPr/>
          <p:nvPr/>
        </p:nvSpPr>
        <p:spPr>
          <a:xfrm>
            <a:off x="6355080" y="187452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32"/>
          <p:cNvSpPr/>
          <p:nvPr/>
        </p:nvSpPr>
        <p:spPr>
          <a:xfrm>
            <a:off x="6409800" y="187452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3"/>
          <p:cNvSpPr/>
          <p:nvPr/>
        </p:nvSpPr>
        <p:spPr>
          <a:xfrm>
            <a:off x="274320" y="2322720"/>
            <a:ext cx="25142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34"/>
          <p:cNvSpPr/>
          <p:nvPr/>
        </p:nvSpPr>
        <p:spPr>
          <a:xfrm>
            <a:off x="329040" y="232272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Адаптивний алгоритм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35"/>
          <p:cNvSpPr/>
          <p:nvPr/>
        </p:nvSpPr>
        <p:spPr>
          <a:xfrm>
            <a:off x="2880360" y="2322720"/>
            <a:ext cx="123408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36"/>
          <p:cNvSpPr/>
          <p:nvPr/>
        </p:nvSpPr>
        <p:spPr>
          <a:xfrm>
            <a:off x="2935080" y="232272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37"/>
          <p:cNvSpPr/>
          <p:nvPr/>
        </p:nvSpPr>
        <p:spPr>
          <a:xfrm>
            <a:off x="4206240" y="2322720"/>
            <a:ext cx="9140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38"/>
          <p:cNvSpPr/>
          <p:nvPr/>
        </p:nvSpPr>
        <p:spPr>
          <a:xfrm>
            <a:off x="4260960" y="232272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Shape 39"/>
          <p:cNvSpPr/>
          <p:nvPr/>
        </p:nvSpPr>
        <p:spPr>
          <a:xfrm>
            <a:off x="5212080" y="2322720"/>
            <a:ext cx="105120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40"/>
          <p:cNvSpPr/>
          <p:nvPr/>
        </p:nvSpPr>
        <p:spPr>
          <a:xfrm>
            <a:off x="5266800" y="232272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41"/>
          <p:cNvSpPr/>
          <p:nvPr/>
        </p:nvSpPr>
        <p:spPr>
          <a:xfrm>
            <a:off x="6355080" y="232272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42"/>
          <p:cNvSpPr/>
          <p:nvPr/>
        </p:nvSpPr>
        <p:spPr>
          <a:xfrm>
            <a:off x="6409800" y="232272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43"/>
          <p:cNvSpPr/>
          <p:nvPr/>
        </p:nvSpPr>
        <p:spPr>
          <a:xfrm>
            <a:off x="274320" y="2770560"/>
            <a:ext cx="25142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44"/>
          <p:cNvSpPr/>
          <p:nvPr/>
        </p:nvSpPr>
        <p:spPr>
          <a:xfrm>
            <a:off x="329040" y="277056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Мультилiнгвальнiсть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45"/>
          <p:cNvSpPr/>
          <p:nvPr/>
        </p:nvSpPr>
        <p:spPr>
          <a:xfrm>
            <a:off x="2880360" y="2770560"/>
            <a:ext cx="123408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46"/>
          <p:cNvSpPr/>
          <p:nvPr/>
        </p:nvSpPr>
        <p:spPr>
          <a:xfrm>
            <a:off x="2935080" y="277056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47"/>
          <p:cNvSpPr/>
          <p:nvPr/>
        </p:nvSpPr>
        <p:spPr>
          <a:xfrm>
            <a:off x="4206240" y="2770560"/>
            <a:ext cx="9140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48"/>
          <p:cNvSpPr/>
          <p:nvPr/>
        </p:nvSpPr>
        <p:spPr>
          <a:xfrm>
            <a:off x="4260960" y="277056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49"/>
          <p:cNvSpPr/>
          <p:nvPr/>
        </p:nvSpPr>
        <p:spPr>
          <a:xfrm>
            <a:off x="5212080" y="2770560"/>
            <a:ext cx="105120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50"/>
          <p:cNvSpPr/>
          <p:nvPr/>
        </p:nvSpPr>
        <p:spPr>
          <a:xfrm>
            <a:off x="5266800" y="277056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51"/>
          <p:cNvSpPr/>
          <p:nvPr/>
        </p:nvSpPr>
        <p:spPr>
          <a:xfrm>
            <a:off x="6355080" y="277056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52"/>
          <p:cNvSpPr/>
          <p:nvPr/>
        </p:nvSpPr>
        <p:spPr>
          <a:xfrm>
            <a:off x="6409800" y="277056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+ (4 мови)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53"/>
          <p:cNvSpPr/>
          <p:nvPr/>
        </p:nvSpPr>
        <p:spPr>
          <a:xfrm>
            <a:off x="274320" y="3218760"/>
            <a:ext cx="25142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54"/>
          <p:cNvSpPr/>
          <p:nvPr/>
        </p:nvSpPr>
        <p:spPr>
          <a:xfrm>
            <a:off x="329040" y="321876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Open Source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Shape 55"/>
          <p:cNvSpPr/>
          <p:nvPr/>
        </p:nvSpPr>
        <p:spPr>
          <a:xfrm>
            <a:off x="2880360" y="3218760"/>
            <a:ext cx="123408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56"/>
          <p:cNvSpPr/>
          <p:nvPr/>
        </p:nvSpPr>
        <p:spPr>
          <a:xfrm>
            <a:off x="2935080" y="321876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57"/>
          <p:cNvSpPr/>
          <p:nvPr/>
        </p:nvSpPr>
        <p:spPr>
          <a:xfrm>
            <a:off x="4206240" y="3218760"/>
            <a:ext cx="9140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58"/>
          <p:cNvSpPr/>
          <p:nvPr/>
        </p:nvSpPr>
        <p:spPr>
          <a:xfrm>
            <a:off x="4260960" y="321876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59"/>
          <p:cNvSpPr/>
          <p:nvPr/>
        </p:nvSpPr>
        <p:spPr>
          <a:xfrm>
            <a:off x="5212080" y="3218760"/>
            <a:ext cx="105120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60"/>
          <p:cNvSpPr/>
          <p:nvPr/>
        </p:nvSpPr>
        <p:spPr>
          <a:xfrm>
            <a:off x="5266800" y="321876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61"/>
          <p:cNvSpPr/>
          <p:nvPr/>
        </p:nvSpPr>
        <p:spPr>
          <a:xfrm>
            <a:off x="6355080" y="321876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62"/>
          <p:cNvSpPr/>
          <p:nvPr/>
        </p:nvSpPr>
        <p:spPr>
          <a:xfrm>
            <a:off x="6409800" y="321876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63"/>
          <p:cNvSpPr/>
          <p:nvPr/>
        </p:nvSpPr>
        <p:spPr>
          <a:xfrm>
            <a:off x="274320" y="3666600"/>
            <a:ext cx="25142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64"/>
          <p:cNvSpPr/>
          <p:nvPr/>
        </p:nvSpPr>
        <p:spPr>
          <a:xfrm>
            <a:off x="329040" y="366660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Безкоштовно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65"/>
          <p:cNvSpPr/>
          <p:nvPr/>
        </p:nvSpPr>
        <p:spPr>
          <a:xfrm>
            <a:off x="2880360" y="3666600"/>
            <a:ext cx="123408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66"/>
          <p:cNvSpPr/>
          <p:nvPr/>
        </p:nvSpPr>
        <p:spPr>
          <a:xfrm>
            <a:off x="2935080" y="366660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67"/>
          <p:cNvSpPr/>
          <p:nvPr/>
        </p:nvSpPr>
        <p:spPr>
          <a:xfrm>
            <a:off x="4206240" y="3666600"/>
            <a:ext cx="9140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68"/>
          <p:cNvSpPr/>
          <p:nvPr/>
        </p:nvSpPr>
        <p:spPr>
          <a:xfrm>
            <a:off x="4260960" y="36666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69"/>
          <p:cNvSpPr/>
          <p:nvPr/>
        </p:nvSpPr>
        <p:spPr>
          <a:xfrm>
            <a:off x="5212080" y="3666600"/>
            <a:ext cx="105120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70"/>
          <p:cNvSpPr/>
          <p:nvPr/>
        </p:nvSpPr>
        <p:spPr>
          <a:xfrm>
            <a:off x="5266800" y="366660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71"/>
          <p:cNvSpPr/>
          <p:nvPr/>
        </p:nvSpPr>
        <p:spPr>
          <a:xfrm>
            <a:off x="6355080" y="366660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72"/>
          <p:cNvSpPr/>
          <p:nvPr/>
        </p:nvSpPr>
        <p:spPr>
          <a:xfrm>
            <a:off x="6409800" y="36666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73"/>
          <p:cNvSpPr/>
          <p:nvPr/>
        </p:nvSpPr>
        <p:spPr>
          <a:xfrm>
            <a:off x="274320" y="4114800"/>
            <a:ext cx="25142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74"/>
          <p:cNvSpPr/>
          <p:nvPr/>
        </p:nvSpPr>
        <p:spPr>
          <a:xfrm>
            <a:off x="329040" y="411480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Крос-мовна перевiрка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75"/>
          <p:cNvSpPr/>
          <p:nvPr/>
        </p:nvSpPr>
        <p:spPr>
          <a:xfrm>
            <a:off x="2880360" y="4114800"/>
            <a:ext cx="123408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76"/>
          <p:cNvSpPr/>
          <p:nvPr/>
        </p:nvSpPr>
        <p:spPr>
          <a:xfrm>
            <a:off x="2935080" y="411480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77"/>
          <p:cNvSpPr/>
          <p:nvPr/>
        </p:nvSpPr>
        <p:spPr>
          <a:xfrm>
            <a:off x="4206240" y="4114800"/>
            <a:ext cx="91404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78"/>
          <p:cNvSpPr/>
          <p:nvPr/>
        </p:nvSpPr>
        <p:spPr>
          <a:xfrm>
            <a:off x="4260960" y="41148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79"/>
          <p:cNvSpPr/>
          <p:nvPr/>
        </p:nvSpPr>
        <p:spPr>
          <a:xfrm>
            <a:off x="5212080" y="4114800"/>
            <a:ext cx="1051200" cy="402120"/>
          </a:xfrm>
          <a:prstGeom prst="rect">
            <a:avLst/>
          </a:prstGeom>
          <a:solidFill>
            <a:srgbClr val="ffffff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80"/>
          <p:cNvSpPr/>
          <p:nvPr/>
        </p:nvSpPr>
        <p:spPr>
          <a:xfrm>
            <a:off x="5266800" y="411480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81"/>
          <p:cNvSpPr/>
          <p:nvPr/>
        </p:nvSpPr>
        <p:spPr>
          <a:xfrm>
            <a:off x="6355080" y="411480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82"/>
          <p:cNvSpPr/>
          <p:nvPr/>
        </p:nvSpPr>
        <p:spPr>
          <a:xfrm>
            <a:off x="6409800" y="41148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83"/>
          <p:cNvSpPr/>
          <p:nvPr/>
        </p:nvSpPr>
        <p:spPr>
          <a:xfrm>
            <a:off x="274320" y="4563000"/>
            <a:ext cx="25142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84"/>
          <p:cNvSpPr/>
          <p:nvPr/>
        </p:nvSpPr>
        <p:spPr>
          <a:xfrm>
            <a:off x="329040" y="4563000"/>
            <a:ext cx="24228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f2233"/>
                </a:solidFill>
                <a:effectLst/>
                <a:uFillTx/>
                <a:latin typeface="Calibri"/>
                <a:ea typeface="Calibri"/>
              </a:rPr>
              <a:t>Статистичний аналiз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Shape 85"/>
          <p:cNvSpPr/>
          <p:nvPr/>
        </p:nvSpPr>
        <p:spPr>
          <a:xfrm>
            <a:off x="2880360" y="4563000"/>
            <a:ext cx="123408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86"/>
          <p:cNvSpPr/>
          <p:nvPr/>
        </p:nvSpPr>
        <p:spPr>
          <a:xfrm>
            <a:off x="2935080" y="4563000"/>
            <a:ext cx="1142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87"/>
          <p:cNvSpPr/>
          <p:nvPr/>
        </p:nvSpPr>
        <p:spPr>
          <a:xfrm>
            <a:off x="4206240" y="4563000"/>
            <a:ext cx="91404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88"/>
          <p:cNvSpPr/>
          <p:nvPr/>
        </p:nvSpPr>
        <p:spPr>
          <a:xfrm>
            <a:off x="4260960" y="4563000"/>
            <a:ext cx="8226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Shape 89"/>
          <p:cNvSpPr/>
          <p:nvPr/>
        </p:nvSpPr>
        <p:spPr>
          <a:xfrm>
            <a:off x="5212080" y="4563000"/>
            <a:ext cx="1051200" cy="402120"/>
          </a:xfrm>
          <a:prstGeom prst="rect">
            <a:avLst/>
          </a:prstGeom>
          <a:solidFill>
            <a:srgbClr val="ebf5fb"/>
          </a:solidFill>
          <a:ln w="6350">
            <a:solidFill>
              <a:srgbClr val="b3d9d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90"/>
          <p:cNvSpPr/>
          <p:nvPr/>
        </p:nvSpPr>
        <p:spPr>
          <a:xfrm>
            <a:off x="5266800" y="4563000"/>
            <a:ext cx="9597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-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91"/>
          <p:cNvSpPr/>
          <p:nvPr/>
        </p:nvSpPr>
        <p:spPr>
          <a:xfrm>
            <a:off x="6355080" y="4563000"/>
            <a:ext cx="1462680" cy="402120"/>
          </a:xfrm>
          <a:prstGeom prst="rect">
            <a:avLst/>
          </a:prstGeom>
          <a:solidFill>
            <a:srgbClr val="d5eaed"/>
          </a:solidFill>
          <a:ln w="635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 92"/>
          <p:cNvSpPr/>
          <p:nvPr/>
        </p:nvSpPr>
        <p:spPr>
          <a:xfrm>
            <a:off x="6409800" y="4563000"/>
            <a:ext cx="13712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8c4a"/>
                </a:solidFill>
                <a:effectLst/>
                <a:uFillTx/>
                <a:latin typeface="Calibri"/>
                <a:ea typeface="Calibri"/>
              </a:rPr>
              <a:t>+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Висновки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2"/>
          <p:cNvSpPr/>
          <p:nvPr/>
        </p:nvSpPr>
        <p:spPr>
          <a:xfrm>
            <a:off x="320040" y="10699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3"/>
          <p:cNvSpPr/>
          <p:nvPr/>
        </p:nvSpPr>
        <p:spPr>
          <a:xfrm>
            <a:off x="320040" y="1069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4"/>
          <p:cNvSpPr/>
          <p:nvPr/>
        </p:nvSpPr>
        <p:spPr>
          <a:xfrm>
            <a:off x="822960" y="9601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Розроблено IMLLS — веб-тренажер для 4 мов (EN, UK, ES, KO) з 8-кроковим дидактичним алгоритмом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5"/>
          <p:cNvSpPr/>
          <p:nvPr/>
        </p:nvSpPr>
        <p:spPr>
          <a:xfrm>
            <a:off x="320040" y="17557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Text 6"/>
          <p:cNvSpPr/>
          <p:nvPr/>
        </p:nvSpPr>
        <p:spPr>
          <a:xfrm>
            <a:off x="320040" y="1755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7"/>
          <p:cNvSpPr/>
          <p:nvPr/>
        </p:nvSpPr>
        <p:spPr>
          <a:xfrm>
            <a:off x="822960" y="16459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Реалiзована крос-мовна перевiрка вимови через Whisper (tiny, 39M) без донавчання пiд конкретну мову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8"/>
          <p:cNvSpPr/>
          <p:nvPr/>
        </p:nvSpPr>
        <p:spPr>
          <a:xfrm>
            <a:off x="320040" y="24415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9"/>
          <p:cNvSpPr/>
          <p:nvPr/>
        </p:nvSpPr>
        <p:spPr>
          <a:xfrm>
            <a:off x="320040" y="2441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10"/>
          <p:cNvSpPr/>
          <p:nvPr/>
        </p:nvSpPr>
        <p:spPr>
          <a:xfrm>
            <a:off x="822960" y="23317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Навчено та опублiковано 3 GEC-моделi: EN (BLEU +16.53), ES (+60.32), KO (+45.25)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Shape 11"/>
          <p:cNvSpPr/>
          <p:nvPr/>
        </p:nvSpPr>
        <p:spPr>
          <a:xfrm>
            <a:off x="320040" y="31273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Text 12"/>
          <p:cNvSpPr/>
          <p:nvPr/>
        </p:nvSpPr>
        <p:spPr>
          <a:xfrm>
            <a:off x="32004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13"/>
          <p:cNvSpPr/>
          <p:nvPr/>
        </p:nvSpPr>
        <p:spPr>
          <a:xfrm>
            <a:off x="822960" y="30175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Виявлено обмеження BLEU на прикладi UK-моделi (BLEU=84.86, реальна якiсть 12.5%) — Goodhart's Law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14"/>
          <p:cNvSpPr/>
          <p:nvPr/>
        </p:nvSpPr>
        <p:spPr>
          <a:xfrm>
            <a:off x="320040" y="38131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5"/>
          <p:cNvSpPr/>
          <p:nvPr/>
        </p:nvSpPr>
        <p:spPr>
          <a:xfrm>
            <a:off x="320040" y="3813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16"/>
          <p:cNvSpPr/>
          <p:nvPr/>
        </p:nvSpPr>
        <p:spPr>
          <a:xfrm>
            <a:off x="822960" y="37033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Адаптивна система (RandomForest) маршрутизує навчання за 3 персоналiзованими маршрутами пiсля 25+ взаємодiй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17"/>
          <p:cNvSpPr/>
          <p:nvPr/>
        </p:nvSpPr>
        <p:spPr>
          <a:xfrm>
            <a:off x="320040" y="4498920"/>
            <a:ext cx="383760" cy="383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18"/>
          <p:cNvSpPr/>
          <p:nvPr/>
        </p:nvSpPr>
        <p:spPr>
          <a:xfrm>
            <a:off x="320040" y="44989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9"/>
          <p:cNvSpPr/>
          <p:nvPr/>
        </p:nvSpPr>
        <p:spPr>
          <a:xfrm>
            <a:off x="822960" y="4389120"/>
            <a:ext cx="8046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Welch t-test: H0 не вiдхиляється (p=0.40) через малу вибiрку, але Dmean=+4.5% пiдтверджує тенденцiю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1"/>
          <p:cNvSpPr/>
          <p:nvPr/>
        </p:nvSpPr>
        <p:spPr>
          <a:xfrm>
            <a:off x="164520" y="0"/>
            <a:ext cx="54360" cy="5143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2"/>
          <p:cNvSpPr/>
          <p:nvPr/>
        </p:nvSpPr>
        <p:spPr>
          <a:xfrm>
            <a:off x="457200" y="5486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Дякую за увагу!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3"/>
          <p:cNvSpPr/>
          <p:nvPr/>
        </p:nvSpPr>
        <p:spPr>
          <a:xfrm>
            <a:off x="457200" y="160020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Перспективи подальших дослiджень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4"/>
          <p:cNvSpPr/>
          <p:nvPr/>
        </p:nvSpPr>
        <p:spPr>
          <a:xfrm>
            <a:off x="457200" y="208476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Збiльшення вибiрки учнiв для статистичного пiдтвердження H1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5"/>
          <p:cNvSpPr/>
          <p:nvPr/>
        </p:nvSpPr>
        <p:spPr>
          <a:xfrm>
            <a:off x="457200" y="256032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Покращення Ukrainian GEC на морфологiчних помилках (вiдмiнювання, узгодження)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6"/>
          <p:cNvSpPr/>
          <p:nvPr/>
        </p:nvSpPr>
        <p:spPr>
          <a:xfrm>
            <a:off x="457200" y="303588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Фонемна перевiрка вимови (GOP) з Montreal Forced Aligner для EN та UK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7"/>
          <p:cNvSpPr/>
          <p:nvPr/>
        </p:nvSpPr>
        <p:spPr>
          <a:xfrm>
            <a:off x="457200" y="35114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Розширення до 8+ мов (PL, DE, FR, AR)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Text 8"/>
          <p:cNvSpPr/>
          <p:nvPr/>
        </p:nvSpPr>
        <p:spPr>
          <a:xfrm>
            <a:off x="457200" y="3986640"/>
            <a:ext cx="54860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&gt;&gt;  </a:t>
            </a: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Мобiльний застосунок (React Native / Flutter)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9"/>
          <p:cNvSpPr/>
          <p:nvPr/>
        </p:nvSpPr>
        <p:spPr>
          <a:xfrm>
            <a:off x="6400800" y="1600200"/>
            <a:ext cx="2468520" cy="3017160"/>
          </a:xfrm>
          <a:prstGeom prst="rect">
            <a:avLst/>
          </a:prstGeom>
          <a:solidFill>
            <a:srgbClr val="132b3f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 10"/>
          <p:cNvSpPr/>
          <p:nvPr/>
        </p:nvSpPr>
        <p:spPr>
          <a:xfrm>
            <a:off x="6492240" y="1691640"/>
            <a:ext cx="2285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Ресурси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11"/>
          <p:cNvSpPr/>
          <p:nvPr/>
        </p:nvSpPr>
        <p:spPr>
          <a:xfrm>
            <a:off x="6492240" y="208476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HuggingFace: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natashasms/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12"/>
          <p:cNvSpPr/>
          <p:nvPr/>
        </p:nvSpPr>
        <p:spPr>
          <a:xfrm>
            <a:off x="6492240" y="25236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en-gec-model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13"/>
          <p:cNvSpPr/>
          <p:nvPr/>
        </p:nvSpPr>
        <p:spPr>
          <a:xfrm>
            <a:off x="6492240" y="296280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es-gec-model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Text 14"/>
          <p:cNvSpPr/>
          <p:nvPr/>
        </p:nvSpPr>
        <p:spPr>
          <a:xfrm>
            <a:off x="6492240" y="340164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ko-gec-model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(mT5-small)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 15"/>
          <p:cNvSpPr/>
          <p:nvPr/>
        </p:nvSpPr>
        <p:spPr>
          <a:xfrm>
            <a:off x="6492240" y="3840480"/>
            <a:ext cx="2285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Streamlit: </a:t>
            </a: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IMLLS App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16"/>
          <p:cNvSpPr/>
          <p:nvPr/>
        </p:nvSpPr>
        <p:spPr>
          <a:xfrm>
            <a:off x="457200" y="46634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0b4bc"/>
                </a:solidFill>
                <a:effectLst/>
                <a:uFillTx/>
                <a:latin typeface="Calibri"/>
                <a:ea typeface="Calibri"/>
              </a:rPr>
              <a:t>Маслова Наталiя  2026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2026-06-16T14:09:56Z</dcterms:created>
  <dc:creator>Маслова Наталія</dc:creator>
  <dc:description/>
  <dc:language>en-US</dc:language>
  <cp:lastModifiedBy/>
  <dcterms:modified xsi:type="dcterms:W3CDTF">2026-06-16T16:15:23Z</dcterms:modified>
  <cp:revision>2</cp:revision>
  <dc:subject>PptxGenJS Presentation</dc:subject>
  <dc:title>IMLLS — Захист магістерської роботи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On-screen Show (16:9)</vt:lpwstr>
  </property>
  <property fmtid="{D5CDD505-2E9C-101B-9397-08002B2CF9AE}" pid="4" name="Slides">
    <vt:i4>20</vt:i4>
  </property>
</Properties>
</file>