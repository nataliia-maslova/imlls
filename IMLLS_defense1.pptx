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До fine-tuning</c:v>
                </c:pt>
              </c:strCache>
            </c:strRef>
          </c:tx>
          <c:spPr>
            <a:solidFill>
              <a:srgbClr val="90b4bc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EN</c:v>
                </c:pt>
                <c:pt idx="1">
                  <c:v>ES</c:v>
                </c:pt>
                <c:pt idx="2">
                  <c:v>KO</c:v>
                </c:pt>
                <c:pt idx="3">
                  <c:v>UK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42.21</c:v>
                </c:pt>
                <c:pt idx="1">
                  <c:v>0.06</c:v>
                </c:pt>
                <c:pt idx="2">
                  <c:v>0.1</c:v>
                </c:pt>
                <c:pt idx="3">
                  <c:v>0.08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Після fine-tuning</c:v>
                </c:pt>
              </c:strCache>
            </c:strRef>
          </c:tx>
          <c:spPr>
            <a:solidFill>
              <a:srgbClr val="02c39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EN</c:v>
                </c:pt>
                <c:pt idx="1">
                  <c:v>ES</c:v>
                </c:pt>
                <c:pt idx="2">
                  <c:v>KO</c:v>
                </c:pt>
                <c:pt idx="3">
                  <c:v>UK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58.74</c:v>
                </c:pt>
                <c:pt idx="1">
                  <c:v>60.38</c:v>
                </c:pt>
                <c:pt idx="2">
                  <c:v>45.35</c:v>
                </c:pt>
                <c:pt idx="3">
                  <c:v>84.86</c:v>
                </c:pt>
              </c:numCache>
            </c:numRef>
          </c:val>
        </c:ser>
        <c:gapWidth val="150"/>
        <c:overlap val="0"/>
        <c:axId val="55365544"/>
        <c:axId val="1961394"/>
      </c:barChart>
      <c:catAx>
        <c:axId val="553655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1961394"/>
        <c:crosses val="autoZero"/>
        <c:auto val="1"/>
        <c:lblAlgn val="ctr"/>
        <c:lblOffset val="100"/>
        <c:noMultiLvlLbl val="0"/>
      </c:catAx>
      <c:valAx>
        <c:axId val="1961394"/>
        <c:scaling>
          <c:orientation val="minMax"/>
        </c:scaling>
        <c:delete val="0"/>
        <c:axPos val="l"/>
        <c:majorGridlines>
          <c:spPr>
            <a:ln w="6480">
              <a:solidFill>
                <a:srgbClr val="2a3f5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90b4bc"/>
                </a:solidFill>
                <a:uFillTx/>
                <a:latin typeface="Arial"/>
              </a:defRPr>
            </a:pPr>
          </a:p>
        </c:txPr>
        <c:crossAx val="5536554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32b3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Середня схожість</c:v>
                </c:pt>
              </c:strCache>
            </c:strRef>
          </c:tx>
          <c:spPr>
            <a:solidFill>
              <a:srgbClr val="028090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trike="noStrike" u="none">
                    <a:solidFill>
                      <a:srgbClr val="0f2233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
Read</c:v>
                </c:pt>
                <c:pt idx="1">
                  <c:v>2
Listen</c:v>
                </c:pt>
                <c:pt idx="2">
                  <c:v>3
Match</c:v>
                </c:pt>
                <c:pt idx="3">
                  <c:v>4
Speed
Read</c:v>
                </c:pt>
                <c:pt idx="4">
                  <c:v>5
Shadow</c:v>
                </c:pt>
                <c:pt idx="5">
                  <c:v>6
Transl.</c:v>
                </c:pt>
                <c:pt idx="6">
                  <c:v>7
Speed
Transl.</c:v>
                </c:pt>
                <c:pt idx="7">
                  <c:v>8
Create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0.729</c:v>
                </c:pt>
                <c:pt idx="1">
                  <c:v>0.308</c:v>
                </c:pt>
                <c:pt idx="2">
                  <c:v>0.961</c:v>
                </c:pt>
                <c:pt idx="3">
                  <c:v>0.744</c:v>
                </c:pt>
                <c:pt idx="4">
                  <c:v>0.386</c:v>
                </c:pt>
                <c:pt idx="5">
                  <c:v>0.78</c:v>
                </c:pt>
                <c:pt idx="6">
                  <c:v>0.774</c:v>
                </c:pt>
                <c:pt idx="7">
                  <c:v>0.771</c:v>
                </c:pt>
              </c:numCache>
            </c:numRef>
          </c:val>
        </c:ser>
        <c:gapWidth val="150"/>
        <c:overlap val="0"/>
        <c:axId val="34724126"/>
        <c:axId val="95835734"/>
      </c:barChart>
      <c:catAx>
        <c:axId val="3472412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f2233"/>
                </a:solidFill>
                <a:uFillTx/>
                <a:latin typeface="Arial"/>
              </a:defRPr>
            </a:pPr>
          </a:p>
        </c:txPr>
        <c:crossAx val="95835734"/>
        <c:crosses val="autoZero"/>
        <c:auto val="1"/>
        <c:lblAlgn val="ctr"/>
        <c:lblOffset val="100"/>
        <c:noMultiLvlLbl val="0"/>
      </c:catAx>
      <c:valAx>
        <c:axId val="95835734"/>
        <c:scaling>
          <c:orientation val="minMax"/>
          <c:max val="1"/>
          <c:min val="0"/>
        </c:scaling>
        <c:delete val="0"/>
        <c:axPos val="l"/>
        <c:majorGridlines>
          <c:spPr>
            <a:ln w="6480">
              <a:solidFill>
                <a:srgbClr val="e0e8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3472412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2c39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trike="noStrike" u="none">
                    <a:solidFill>
                      <a:srgbClr val="0f2233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58</c:v>
                </c:pt>
                <c:pt idx="1">
                  <c:v>5</c:v>
                </c:pt>
                <c:pt idx="2">
                  <c:v>92</c:v>
                </c:pt>
                <c:pt idx="3">
                  <c:v>52</c:v>
                </c:pt>
                <c:pt idx="4">
                  <c:v>6</c:v>
                </c:pt>
                <c:pt idx="5">
                  <c:v>66</c:v>
                </c:pt>
                <c:pt idx="6">
                  <c:v>64</c:v>
                </c:pt>
                <c:pt idx="7">
                  <c:v>63</c:v>
                </c:pt>
              </c:numCache>
            </c:numRef>
          </c:val>
        </c:ser>
        <c:gapWidth val="150"/>
        <c:overlap val="0"/>
        <c:axId val="56139967"/>
        <c:axId val="40294462"/>
      </c:barChart>
      <c:catAx>
        <c:axId val="5613996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f2233"/>
                </a:solidFill>
                <a:uFillTx/>
                <a:latin typeface="Arial"/>
              </a:defRPr>
            </a:pPr>
          </a:p>
        </c:txPr>
        <c:crossAx val="40294462"/>
        <c:crosses val="autoZero"/>
        <c:auto val="1"/>
        <c:lblAlgn val="ctr"/>
        <c:lblOffset val="100"/>
        <c:noMultiLvlLbl val="0"/>
      </c:catAx>
      <c:valAx>
        <c:axId val="40294462"/>
        <c:scaling>
          <c:orientation val="minMax"/>
          <c:max val="100"/>
        </c:scaling>
        <c:delete val="0"/>
        <c:axPos val="l"/>
        <c:majorGridlines>
          <c:spPr>
            <a:ln w="6480">
              <a:solidFill>
                <a:srgbClr val="e0e8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5613996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desplazar la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diapositiva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las notas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AF577A-4B3B-4EE0-A19E-BA8F45B18C3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6B68DD-12B1-4F72-A1C1-3855890BF9C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F8CDCE-D143-4410-BA75-5C3C984FF84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823AF2-DC68-4343-8613-DE3A5163042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270B4C-D980-4D60-AB6B-A278C727F87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8ACB9C-5EA2-4A8F-A2FC-9217024491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E13786-8305-4A66-B1E5-6D1EA98763C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2CC510-43F3-4C6A-B7F4-D343058687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4F51D2-18CF-46C1-B970-E37F0FB56C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712784-D028-4DEB-AC1B-8D0E69F975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C60CAE-E5AE-4912-89F7-F384E56D7B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editar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del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título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164520"/>
            <a:ext cx="8228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Підготовка датасету — Lang-8 + UA-GEC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57200" y="694800"/>
            <a:ext cx="1279440" cy="49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274320" y="914400"/>
            <a:ext cx="1416600" cy="685080"/>
          </a:xfrm>
          <a:prstGeom prst="rect">
            <a:avLst/>
          </a:prstGeom>
          <a:solidFill>
            <a:srgbClr val="07354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274320" y="914400"/>
            <a:ext cx="1416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Lang-8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69164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828800" y="914400"/>
            <a:ext cx="1416600" cy="685080"/>
          </a:xfrm>
          <a:prstGeom prst="rect">
            <a:avLst/>
          </a:prstGeom>
          <a:solidFill>
            <a:srgbClr val="125a6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828800" y="914400"/>
            <a:ext cx="1416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Парсинг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(мова + пари)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24612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3383280" y="914400"/>
            <a:ext cx="1416600" cy="685080"/>
          </a:xfrm>
          <a:prstGeom prst="rect">
            <a:avLst/>
          </a:prstGeom>
          <a:solidFill>
            <a:srgbClr val="125a6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3383280" y="914400"/>
            <a:ext cx="1416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Reservoir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Sampling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80060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937760" y="914400"/>
            <a:ext cx="1416600" cy="685080"/>
          </a:xfrm>
          <a:prstGeom prst="rect">
            <a:avLst/>
          </a:prstGeom>
          <a:solidFill>
            <a:srgbClr val="125a6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937760" y="914400"/>
            <a:ext cx="1416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Дедупл.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Фільтрація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35508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492240" y="914400"/>
            <a:ext cx="1416600" cy="685080"/>
          </a:xfrm>
          <a:prstGeom prst="rect">
            <a:avLst/>
          </a:prstGeom>
          <a:solidFill>
            <a:srgbClr val="257a8e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492240" y="914400"/>
            <a:ext cx="1416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Prefix +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Tokenize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790956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8046720" y="914400"/>
            <a:ext cx="1416600" cy="685080"/>
          </a:xfrm>
          <a:prstGeom prst="rect">
            <a:avLst/>
          </a:prstGeom>
          <a:solidFill>
            <a:srgbClr val="257a8e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8046720" y="914400"/>
            <a:ext cx="14166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Train /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Val split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274320" y="1737360"/>
            <a:ext cx="8503200" cy="749160"/>
          </a:xfrm>
          <a:prstGeom prst="rect">
            <a:avLst/>
          </a:prstGeom>
          <a:solidFill>
            <a:srgbClr val="e8f8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57200" y="17920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Reservoir Sampling (алгоритм Віттера, 1985)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57200" y="206640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Рівномірна вибірка k елементів за O(n) час, O(k) пам'ять — обов'язково при corpus EN ≈ 1M рядків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274320" y="2633400"/>
            <a:ext cx="639360" cy="38340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320040" y="2633400"/>
            <a:ext cx="547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987480" y="2633400"/>
            <a:ext cx="1919520" cy="38340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1033200" y="2633400"/>
            <a:ext cx="1828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Корпус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2980800" y="2633400"/>
            <a:ext cx="1188000" cy="38340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3026520" y="2633400"/>
            <a:ext cx="1096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Загалом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4242960" y="2633400"/>
            <a:ext cx="1096560" cy="38340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4288680" y="263340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Вибірка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5413320" y="2633400"/>
            <a:ext cx="1096560" cy="38340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5459040" y="263340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Train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6583680" y="2633400"/>
            <a:ext cx="913680" cy="38340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6629400" y="2633400"/>
            <a:ext cx="822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Val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274320" y="3072240"/>
            <a:ext cx="63936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320040" y="3072240"/>
            <a:ext cx="547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EN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987480" y="3072240"/>
            <a:ext cx="191952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033200" y="3072240"/>
            <a:ext cx="1828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Lang-8 + JFLEG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2980800" y="3072240"/>
            <a:ext cx="118800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3026520" y="3072240"/>
            <a:ext cx="1096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995 863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4242960" y="3072240"/>
            <a:ext cx="109656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4288680" y="307224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60 000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5413320" y="3072240"/>
            <a:ext cx="109656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5459040" y="307224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57 000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6583680" y="3072240"/>
            <a:ext cx="91368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6629400" y="3072240"/>
            <a:ext cx="822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3 000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274320" y="3511440"/>
            <a:ext cx="63936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320040" y="3511440"/>
            <a:ext cx="547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987480" y="3511440"/>
            <a:ext cx="191952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1033200" y="3511440"/>
            <a:ext cx="1828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Lang-8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2980800" y="3511440"/>
            <a:ext cx="118800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2"/>
          <p:cNvSpPr/>
          <p:nvPr/>
        </p:nvSpPr>
        <p:spPr>
          <a:xfrm>
            <a:off x="3026520" y="3511440"/>
            <a:ext cx="1096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73 949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4242960" y="3511440"/>
            <a:ext cx="109656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4"/>
          <p:cNvSpPr/>
          <p:nvPr/>
        </p:nvSpPr>
        <p:spPr>
          <a:xfrm>
            <a:off x="4288680" y="351144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40 000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5413320" y="3511440"/>
            <a:ext cx="109656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6"/>
          <p:cNvSpPr/>
          <p:nvPr/>
        </p:nvSpPr>
        <p:spPr>
          <a:xfrm>
            <a:off x="5459040" y="351144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38 000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6583680" y="3511440"/>
            <a:ext cx="91368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8"/>
          <p:cNvSpPr/>
          <p:nvPr/>
        </p:nvSpPr>
        <p:spPr>
          <a:xfrm>
            <a:off x="6629400" y="3511440"/>
            <a:ext cx="822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2 000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274320" y="3950280"/>
            <a:ext cx="63936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0"/>
          <p:cNvSpPr/>
          <p:nvPr/>
        </p:nvSpPr>
        <p:spPr>
          <a:xfrm>
            <a:off x="320040" y="3950280"/>
            <a:ext cx="547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1"/>
          <p:cNvSpPr/>
          <p:nvPr/>
        </p:nvSpPr>
        <p:spPr>
          <a:xfrm>
            <a:off x="987480" y="3950280"/>
            <a:ext cx="191952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2"/>
          <p:cNvSpPr/>
          <p:nvPr/>
        </p:nvSpPr>
        <p:spPr>
          <a:xfrm>
            <a:off x="1033200" y="3950280"/>
            <a:ext cx="1828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Lang-8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3"/>
          <p:cNvSpPr/>
          <p:nvPr/>
        </p:nvSpPr>
        <p:spPr>
          <a:xfrm>
            <a:off x="2980800" y="3950280"/>
            <a:ext cx="118800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4"/>
          <p:cNvSpPr/>
          <p:nvPr/>
        </p:nvSpPr>
        <p:spPr>
          <a:xfrm>
            <a:off x="3026520" y="3950280"/>
            <a:ext cx="1096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100 665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5"/>
          <p:cNvSpPr/>
          <p:nvPr/>
        </p:nvSpPr>
        <p:spPr>
          <a:xfrm>
            <a:off x="4242960" y="3950280"/>
            <a:ext cx="109656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6"/>
          <p:cNvSpPr/>
          <p:nvPr/>
        </p:nvSpPr>
        <p:spPr>
          <a:xfrm>
            <a:off x="4288680" y="395028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40 000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7"/>
          <p:cNvSpPr/>
          <p:nvPr/>
        </p:nvSpPr>
        <p:spPr>
          <a:xfrm>
            <a:off x="5413320" y="3950280"/>
            <a:ext cx="109656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8"/>
          <p:cNvSpPr/>
          <p:nvPr/>
        </p:nvSpPr>
        <p:spPr>
          <a:xfrm>
            <a:off x="5459040" y="395028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38 000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9"/>
          <p:cNvSpPr/>
          <p:nvPr/>
        </p:nvSpPr>
        <p:spPr>
          <a:xfrm>
            <a:off x="6583680" y="3950280"/>
            <a:ext cx="913680" cy="38340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0"/>
          <p:cNvSpPr/>
          <p:nvPr/>
        </p:nvSpPr>
        <p:spPr>
          <a:xfrm>
            <a:off x="6629400" y="3950280"/>
            <a:ext cx="822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2 000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71"/>
          <p:cNvSpPr/>
          <p:nvPr/>
        </p:nvSpPr>
        <p:spPr>
          <a:xfrm>
            <a:off x="274320" y="4389120"/>
            <a:ext cx="63936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2"/>
          <p:cNvSpPr/>
          <p:nvPr/>
        </p:nvSpPr>
        <p:spPr>
          <a:xfrm>
            <a:off x="320040" y="4389120"/>
            <a:ext cx="547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3"/>
          <p:cNvSpPr/>
          <p:nvPr/>
        </p:nvSpPr>
        <p:spPr>
          <a:xfrm>
            <a:off x="987480" y="4389120"/>
            <a:ext cx="191952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4"/>
          <p:cNvSpPr/>
          <p:nvPr/>
        </p:nvSpPr>
        <p:spPr>
          <a:xfrm>
            <a:off x="1033200" y="4389120"/>
            <a:ext cx="1828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UA-GEC + CSV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5"/>
          <p:cNvSpPr/>
          <p:nvPr/>
        </p:nvSpPr>
        <p:spPr>
          <a:xfrm>
            <a:off x="2980800" y="4389120"/>
            <a:ext cx="118800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6"/>
          <p:cNvSpPr/>
          <p:nvPr/>
        </p:nvSpPr>
        <p:spPr>
          <a:xfrm>
            <a:off x="3026520" y="4389120"/>
            <a:ext cx="1096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26 690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7"/>
          <p:cNvSpPr/>
          <p:nvPr/>
        </p:nvSpPr>
        <p:spPr>
          <a:xfrm>
            <a:off x="4242960" y="4389120"/>
            <a:ext cx="109656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8"/>
          <p:cNvSpPr/>
          <p:nvPr/>
        </p:nvSpPr>
        <p:spPr>
          <a:xfrm>
            <a:off x="4288680" y="438912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14 690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9"/>
          <p:cNvSpPr/>
          <p:nvPr/>
        </p:nvSpPr>
        <p:spPr>
          <a:xfrm>
            <a:off x="5413320" y="4389120"/>
            <a:ext cx="109656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0"/>
          <p:cNvSpPr/>
          <p:nvPr/>
        </p:nvSpPr>
        <p:spPr>
          <a:xfrm>
            <a:off x="5459040" y="4389120"/>
            <a:ext cx="1005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13 955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81"/>
          <p:cNvSpPr/>
          <p:nvPr/>
        </p:nvSpPr>
        <p:spPr>
          <a:xfrm>
            <a:off x="6583680" y="4389120"/>
            <a:ext cx="91368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2"/>
          <p:cNvSpPr/>
          <p:nvPr/>
        </p:nvSpPr>
        <p:spPr>
          <a:xfrm>
            <a:off x="6629400" y="4389120"/>
            <a:ext cx="822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735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3"/>
          <p:cNvSpPr/>
          <p:nvPr/>
        </p:nvSpPr>
        <p:spPr>
          <a:xfrm>
            <a:off x="274320" y="4617720"/>
            <a:ext cx="8503200" cy="474840"/>
          </a:xfrm>
          <a:prstGeom prst="rect">
            <a:avLst/>
          </a:prstGeom>
          <a:solidFill>
            <a:srgbClr val="fef9e7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4"/>
          <p:cNvSpPr/>
          <p:nvPr/>
        </p:nvSpPr>
        <p:spPr>
          <a:xfrm>
            <a:off x="402480" y="4636080"/>
            <a:ext cx="83203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d5a00"/>
                </a:solidFill>
                <a:effectLst/>
                <a:uFillTx/>
                <a:latin typeface="Calibri"/>
                <a:ea typeface="Calibri"/>
              </a:rPr>
              <a:t>! UK: UA-GEC 15 090 → 14 690 унікальних; CSV 14 148 → 12 000 вибірка. Після pd.concat + drop_duplicates: 14 690 — CSV повністю перекривається UA-GEC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Конвеєр навчання: реалізаційні деталі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274320" y="932760"/>
            <a:ext cx="4205520" cy="346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274320" y="932760"/>
            <a:ext cx="4205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Відкладена ініціалізація CUDA (Windows)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274320" y="1280160"/>
            <a:ext cx="4205520" cy="1690920"/>
          </a:xfrm>
          <a:prstGeom prst="rect">
            <a:avLst/>
          </a:prstGeom>
          <a:solidFill>
            <a:srgbClr val="0a1f30"/>
          </a:solidFill>
          <a:ln w="1270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384120" y="1316880"/>
            <a:ext cx="3985920" cy="16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# STATUS_ACCESS_VIOLATION (0xC0000005) — Windows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# torch iмпортуємо ЛИШЕ пiсля pandas операцiй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import pandas as pd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df = pd.read_csv(...)   # CPU операцiї першими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df = df.dropna()        # ... фiльтрацiя ...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import torch            # ← тiльки пiсля pandas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from transformers import AutoTokenizer, ...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274320" y="3090600"/>
            <a:ext cx="4205520" cy="346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274320" y="3090600"/>
            <a:ext cx="4205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Адаптивний розмiр батчу (eff. batch=16)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274320" y="3438000"/>
            <a:ext cx="4205520" cy="1297800"/>
          </a:xfrm>
          <a:prstGeom prst="rect">
            <a:avLst/>
          </a:prstGeom>
          <a:solidFill>
            <a:srgbClr val="0a1f30"/>
          </a:solidFill>
          <a:ln w="1270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384120" y="3474720"/>
            <a:ext cx="3985920" cy="12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if vram &gt;= 12:  batch=8,  accum=2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elif vram &gt;= 8: batch=4,  accum=4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else:           batch=2,  accum=8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# → eff. batch = batch * accum = 16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4663440" y="932760"/>
            <a:ext cx="4205520" cy="346680"/>
          </a:xfrm>
          <a:prstGeom prst="rect">
            <a:avLst/>
          </a:prstGeom>
          <a:solidFill>
            <a:srgbClr val="028060"/>
          </a:solidFill>
          <a:ln w="12700">
            <a:solidFill>
              <a:srgbClr val="028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4663440" y="932760"/>
            <a:ext cx="4205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Ключовi параметри Seq2SeqTrainer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4663440" y="1325880"/>
            <a:ext cx="4205520" cy="310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4736520" y="1325880"/>
            <a:ext cx="2468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predict_with_generate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7269480" y="1325880"/>
            <a:ext cx="1553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True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5"/>
          <p:cNvSpPr/>
          <p:nvPr/>
        </p:nvSpPr>
        <p:spPr>
          <a:xfrm>
            <a:off x="4663440" y="1673280"/>
            <a:ext cx="4205520" cy="31032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4736520" y="1673280"/>
            <a:ext cx="2468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evaluation_strategy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7269480" y="1673280"/>
            <a:ext cx="1553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"epoch"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4663440" y="2020680"/>
            <a:ext cx="4205520" cy="310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4736520" y="2020680"/>
            <a:ext cx="2468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load_best_model_at_end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7269480" y="2020680"/>
            <a:ext cx="1553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True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1"/>
          <p:cNvSpPr/>
          <p:nvPr/>
        </p:nvSpPr>
        <p:spPr>
          <a:xfrm>
            <a:off x="4663440" y="2368440"/>
            <a:ext cx="4205520" cy="31032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2"/>
          <p:cNvSpPr/>
          <p:nvPr/>
        </p:nvSpPr>
        <p:spPr>
          <a:xfrm>
            <a:off x="4736520" y="2368440"/>
            <a:ext cx="2468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metric_for_best_model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3"/>
          <p:cNvSpPr/>
          <p:nvPr/>
        </p:nvSpPr>
        <p:spPr>
          <a:xfrm>
            <a:off x="7269480" y="2368440"/>
            <a:ext cx="1553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"eval_loss"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4"/>
          <p:cNvSpPr/>
          <p:nvPr/>
        </p:nvSpPr>
        <p:spPr>
          <a:xfrm>
            <a:off x="4663440" y="2715840"/>
            <a:ext cx="4205520" cy="310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4736520" y="2715840"/>
            <a:ext cx="2468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bf16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7269480" y="2715840"/>
            <a:ext cx="1553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True  (fp16=False)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7"/>
          <p:cNvSpPr/>
          <p:nvPr/>
        </p:nvSpPr>
        <p:spPr>
          <a:xfrm>
            <a:off x="4663440" y="3063240"/>
            <a:ext cx="4205520" cy="31032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8"/>
          <p:cNvSpPr/>
          <p:nvPr/>
        </p:nvSpPr>
        <p:spPr>
          <a:xfrm>
            <a:off x="4736520" y="3063240"/>
            <a:ext cx="2468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generation_max_length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9"/>
          <p:cNvSpPr/>
          <p:nvPr/>
        </p:nvSpPr>
        <p:spPr>
          <a:xfrm>
            <a:off x="7269480" y="3063240"/>
            <a:ext cx="1553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128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0"/>
          <p:cNvSpPr/>
          <p:nvPr/>
        </p:nvSpPr>
        <p:spPr>
          <a:xfrm>
            <a:off x="4663440" y="3410640"/>
            <a:ext cx="4205520" cy="310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1"/>
          <p:cNvSpPr/>
          <p:nvPr/>
        </p:nvSpPr>
        <p:spPr>
          <a:xfrm>
            <a:off x="4736520" y="3410640"/>
            <a:ext cx="2468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DataCollator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2"/>
          <p:cNvSpPr/>
          <p:nvPr/>
        </p:nvSpPr>
        <p:spPr>
          <a:xfrm>
            <a:off x="7269480" y="3410640"/>
            <a:ext cx="1553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Seq2Seq (dynamic pad)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3"/>
          <p:cNvSpPr/>
          <p:nvPr/>
        </p:nvSpPr>
        <p:spPr>
          <a:xfrm>
            <a:off x="4663440" y="3776400"/>
            <a:ext cx="4205520" cy="319320"/>
          </a:xfrm>
          <a:prstGeom prst="rect">
            <a:avLst/>
          </a:prstGeom>
          <a:solidFill>
            <a:srgbClr val="9b3a2a"/>
          </a:solidFill>
          <a:ln w="1270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4"/>
          <p:cNvSpPr/>
          <p:nvPr/>
        </p:nvSpPr>
        <p:spPr>
          <a:xfrm>
            <a:off x="4663440" y="377640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Санiтарна перевiрка початкового loss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5"/>
          <p:cNvSpPr/>
          <p:nvPr/>
        </p:nvSpPr>
        <p:spPr>
          <a:xfrm>
            <a:off x="4663440" y="4133160"/>
            <a:ext cx="4205520" cy="264600"/>
          </a:xfrm>
          <a:prstGeom prst="rect">
            <a:avLst/>
          </a:prstGeom>
          <a:solidFill>
            <a:srgbClr val="1a0a08"/>
          </a:solidFill>
          <a:ln w="6350">
            <a:solidFill>
              <a:srgbClr val="3d15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6"/>
          <p:cNvSpPr/>
          <p:nvPr/>
        </p:nvSpPr>
        <p:spPr>
          <a:xfrm>
            <a:off x="4736520" y="4133160"/>
            <a:ext cx="9136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 (T5)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7"/>
          <p:cNvSpPr/>
          <p:nvPr/>
        </p:nvSpPr>
        <p:spPr>
          <a:xfrm>
            <a:off x="5706000" y="4133160"/>
            <a:ext cx="730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2.18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8"/>
          <p:cNvSpPr/>
          <p:nvPr/>
        </p:nvSpPr>
        <p:spPr>
          <a:xfrm>
            <a:off x="6492240" y="4133160"/>
            <a:ext cx="2331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T5 вже знає граматику EN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9"/>
          <p:cNvSpPr/>
          <p:nvPr/>
        </p:nvSpPr>
        <p:spPr>
          <a:xfrm>
            <a:off x="4663440" y="4434840"/>
            <a:ext cx="4205520" cy="264600"/>
          </a:xfrm>
          <a:prstGeom prst="rect">
            <a:avLst/>
          </a:prstGeom>
          <a:solidFill>
            <a:srgbClr val="0f0605"/>
          </a:solidFill>
          <a:ln w="6350">
            <a:solidFill>
              <a:srgbClr val="3d15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0"/>
          <p:cNvSpPr/>
          <p:nvPr/>
        </p:nvSpPr>
        <p:spPr>
          <a:xfrm>
            <a:off x="4736520" y="4434840"/>
            <a:ext cx="9136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 (mT5)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1"/>
          <p:cNvSpPr/>
          <p:nvPr/>
        </p:nvSpPr>
        <p:spPr>
          <a:xfrm>
            <a:off x="5706000" y="4434840"/>
            <a:ext cx="730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30.77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2"/>
          <p:cNvSpPr/>
          <p:nvPr/>
        </p:nvSpPr>
        <p:spPr>
          <a:xfrm>
            <a:off x="6492240" y="4434840"/>
            <a:ext cx="2331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~ln(250 100) — рiвномiрний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3"/>
          <p:cNvSpPr/>
          <p:nvPr/>
        </p:nvSpPr>
        <p:spPr>
          <a:xfrm>
            <a:off x="4663440" y="4736520"/>
            <a:ext cx="4205520" cy="264600"/>
          </a:xfrm>
          <a:prstGeom prst="rect">
            <a:avLst/>
          </a:prstGeom>
          <a:solidFill>
            <a:srgbClr val="1a0a08"/>
          </a:solidFill>
          <a:ln w="6350">
            <a:solidFill>
              <a:srgbClr val="3d15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4"/>
          <p:cNvSpPr/>
          <p:nvPr/>
        </p:nvSpPr>
        <p:spPr>
          <a:xfrm>
            <a:off x="4736520" y="4736520"/>
            <a:ext cx="9136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 (mT5)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5"/>
          <p:cNvSpPr/>
          <p:nvPr/>
        </p:nvSpPr>
        <p:spPr>
          <a:xfrm>
            <a:off x="5706000" y="4736520"/>
            <a:ext cx="730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23.35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6"/>
          <p:cNvSpPr/>
          <p:nvPr/>
        </p:nvSpPr>
        <p:spPr>
          <a:xfrm>
            <a:off x="6492240" y="4736520"/>
            <a:ext cx="2331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частковi знання кор.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7"/>
          <p:cNvSpPr/>
          <p:nvPr/>
        </p:nvSpPr>
        <p:spPr>
          <a:xfrm>
            <a:off x="4663440" y="5038200"/>
            <a:ext cx="4205520" cy="264600"/>
          </a:xfrm>
          <a:prstGeom prst="rect">
            <a:avLst/>
          </a:prstGeom>
          <a:solidFill>
            <a:srgbClr val="0f0605"/>
          </a:solidFill>
          <a:ln w="6350">
            <a:solidFill>
              <a:srgbClr val="3d15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8"/>
          <p:cNvSpPr/>
          <p:nvPr/>
        </p:nvSpPr>
        <p:spPr>
          <a:xfrm>
            <a:off x="4736520" y="5038200"/>
            <a:ext cx="9136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UK (mT5)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9"/>
          <p:cNvSpPr/>
          <p:nvPr/>
        </p:nvSpPr>
        <p:spPr>
          <a:xfrm>
            <a:off x="5706000" y="5038200"/>
            <a:ext cx="730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35.31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0"/>
          <p:cNvSpPr/>
          <p:nvPr/>
        </p:nvSpPr>
        <p:spPr>
          <a:xfrm>
            <a:off x="6492240" y="5038200"/>
            <a:ext cx="2331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лiт. укр. &lt; репрезент.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Гіперпараметри навчання (Таблиця 3.3)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274320" y="932760"/>
            <a:ext cx="1782360" cy="3560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338400" y="932760"/>
            <a:ext cx="1672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Параметр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2103120" y="932760"/>
            <a:ext cx="1508040" cy="3560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2167200" y="932760"/>
            <a:ext cx="139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Значення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3657600" y="932760"/>
            <a:ext cx="3428280" cy="3560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3721680" y="932760"/>
            <a:ext cx="33184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Обґрунтування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8"/>
          <p:cNvSpPr/>
          <p:nvPr/>
        </p:nvSpPr>
        <p:spPr>
          <a:xfrm>
            <a:off x="274320" y="1334880"/>
            <a:ext cx="178236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338400" y="1334880"/>
            <a:ext cx="1672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Optimizer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2103120" y="1334880"/>
            <a:ext cx="150804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2167200" y="1334880"/>
            <a:ext cx="139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Adafactor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2"/>
          <p:cNvSpPr/>
          <p:nvPr/>
        </p:nvSpPr>
        <p:spPr>
          <a:xfrm>
            <a:off x="3657600" y="1334880"/>
            <a:ext cx="342828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3721680" y="1334880"/>
            <a:ext cx="33184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Без 2-го моменту → −50% VRAM vs Adam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274320" y="1737360"/>
            <a:ext cx="178236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338400" y="1737360"/>
            <a:ext cx="1672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Batch size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6"/>
          <p:cNvSpPr/>
          <p:nvPr/>
        </p:nvSpPr>
        <p:spPr>
          <a:xfrm>
            <a:off x="2103120" y="1737360"/>
            <a:ext cx="150804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2167200" y="1737360"/>
            <a:ext cx="139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адаптивний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8"/>
          <p:cNvSpPr/>
          <p:nvPr/>
        </p:nvSpPr>
        <p:spPr>
          <a:xfrm>
            <a:off x="3657600" y="1737360"/>
            <a:ext cx="342828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9"/>
          <p:cNvSpPr/>
          <p:nvPr/>
        </p:nvSpPr>
        <p:spPr>
          <a:xfrm>
            <a:off x="3721680" y="1737360"/>
            <a:ext cx="33184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eff. batch=16 (accum 2/4/8 залежно VRAM)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0"/>
          <p:cNvSpPr/>
          <p:nvPr/>
        </p:nvSpPr>
        <p:spPr>
          <a:xfrm>
            <a:off x="274320" y="2139840"/>
            <a:ext cx="178236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338400" y="2139840"/>
            <a:ext cx="1672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Weight decay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2"/>
          <p:cNvSpPr/>
          <p:nvPr/>
        </p:nvSpPr>
        <p:spPr>
          <a:xfrm>
            <a:off x="2103120" y="2139840"/>
            <a:ext cx="150804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2167200" y="2139840"/>
            <a:ext cx="139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4"/>
          <p:cNvSpPr/>
          <p:nvPr/>
        </p:nvSpPr>
        <p:spPr>
          <a:xfrm>
            <a:off x="3657600" y="2139840"/>
            <a:ext cx="342828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5"/>
          <p:cNvSpPr/>
          <p:nvPr/>
        </p:nvSpPr>
        <p:spPr>
          <a:xfrm>
            <a:off x="3721680" y="2139840"/>
            <a:ext cx="33184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L2-регуляризація проти перенавчання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6"/>
          <p:cNvSpPr/>
          <p:nvPr/>
        </p:nvSpPr>
        <p:spPr>
          <a:xfrm>
            <a:off x="274320" y="2541960"/>
            <a:ext cx="178236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7"/>
          <p:cNvSpPr/>
          <p:nvPr/>
        </p:nvSpPr>
        <p:spPr>
          <a:xfrm>
            <a:off x="338400" y="2541960"/>
            <a:ext cx="1672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Max length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8"/>
          <p:cNvSpPr/>
          <p:nvPr/>
        </p:nvSpPr>
        <p:spPr>
          <a:xfrm>
            <a:off x="2103120" y="2541960"/>
            <a:ext cx="150804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9"/>
          <p:cNvSpPr/>
          <p:nvPr/>
        </p:nvSpPr>
        <p:spPr>
          <a:xfrm>
            <a:off x="2167200" y="2541960"/>
            <a:ext cx="139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128 токенів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0"/>
          <p:cNvSpPr/>
          <p:nvPr/>
        </p:nvSpPr>
        <p:spPr>
          <a:xfrm>
            <a:off x="3657600" y="2541960"/>
            <a:ext cx="342828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1"/>
          <p:cNvSpPr/>
          <p:nvPr/>
        </p:nvSpPr>
        <p:spPr>
          <a:xfrm>
            <a:off x="3721680" y="2541960"/>
            <a:ext cx="33184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Для коротких учнівських речень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2"/>
          <p:cNvSpPr/>
          <p:nvPr/>
        </p:nvSpPr>
        <p:spPr>
          <a:xfrm>
            <a:off x="274320" y="2944440"/>
            <a:ext cx="178236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3"/>
          <p:cNvSpPr/>
          <p:nvPr/>
        </p:nvSpPr>
        <p:spPr>
          <a:xfrm>
            <a:off x="338400" y="2944440"/>
            <a:ext cx="1672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Beam search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4"/>
          <p:cNvSpPr/>
          <p:nvPr/>
        </p:nvSpPr>
        <p:spPr>
          <a:xfrm>
            <a:off x="2103120" y="2944440"/>
            <a:ext cx="150804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5"/>
          <p:cNvSpPr/>
          <p:nvPr/>
        </p:nvSpPr>
        <p:spPr>
          <a:xfrm>
            <a:off x="2167200" y="2944440"/>
            <a:ext cx="139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beams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6"/>
          <p:cNvSpPr/>
          <p:nvPr/>
        </p:nvSpPr>
        <p:spPr>
          <a:xfrm>
            <a:off x="3657600" y="2944440"/>
            <a:ext cx="3428280" cy="3560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7"/>
          <p:cNvSpPr/>
          <p:nvPr/>
        </p:nvSpPr>
        <p:spPr>
          <a:xfrm>
            <a:off x="3721680" y="2944440"/>
            <a:ext cx="33184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Якість генерацiї / швидкість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8"/>
          <p:cNvSpPr/>
          <p:nvPr/>
        </p:nvSpPr>
        <p:spPr>
          <a:xfrm>
            <a:off x="274320" y="3346560"/>
            <a:ext cx="178236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9"/>
          <p:cNvSpPr/>
          <p:nvPr/>
        </p:nvSpPr>
        <p:spPr>
          <a:xfrm>
            <a:off x="338400" y="3346560"/>
            <a:ext cx="1672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Precision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0"/>
          <p:cNvSpPr/>
          <p:nvPr/>
        </p:nvSpPr>
        <p:spPr>
          <a:xfrm>
            <a:off x="2103120" y="3346560"/>
            <a:ext cx="150804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1"/>
          <p:cNvSpPr/>
          <p:nvPr/>
        </p:nvSpPr>
        <p:spPr>
          <a:xfrm>
            <a:off x="2167200" y="3346560"/>
            <a:ext cx="139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BF16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2"/>
          <p:cNvSpPr/>
          <p:nvPr/>
        </p:nvSpPr>
        <p:spPr>
          <a:xfrm>
            <a:off x="3657600" y="3346560"/>
            <a:ext cx="3428280" cy="35604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3"/>
          <p:cNvSpPr/>
          <p:nvPr/>
        </p:nvSpPr>
        <p:spPr>
          <a:xfrm>
            <a:off x="3721680" y="3346560"/>
            <a:ext cx="33184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Half-precision → вдвічi менше VRAM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44"/>
          <p:cNvSpPr/>
          <p:nvPr/>
        </p:nvSpPr>
        <p:spPr>
          <a:xfrm>
            <a:off x="7315200" y="932760"/>
            <a:ext cx="1599480" cy="3560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5"/>
          <p:cNvSpPr/>
          <p:nvPr/>
        </p:nvSpPr>
        <p:spPr>
          <a:xfrm>
            <a:off x="7315200" y="932760"/>
            <a:ext cx="15994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Мова-специфiчнi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6"/>
          <p:cNvSpPr/>
          <p:nvPr/>
        </p:nvSpPr>
        <p:spPr>
          <a:xfrm>
            <a:off x="7315200" y="1334880"/>
            <a:ext cx="410760" cy="32832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7"/>
          <p:cNvSpPr/>
          <p:nvPr/>
        </p:nvSpPr>
        <p:spPr>
          <a:xfrm>
            <a:off x="7342560" y="133488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8"/>
          <p:cNvSpPr/>
          <p:nvPr/>
        </p:nvSpPr>
        <p:spPr>
          <a:xfrm>
            <a:off x="7772400" y="1334880"/>
            <a:ext cx="410760" cy="32832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9"/>
          <p:cNvSpPr/>
          <p:nvPr/>
        </p:nvSpPr>
        <p:spPr>
          <a:xfrm>
            <a:off x="7799760" y="133488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LR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50"/>
          <p:cNvSpPr/>
          <p:nvPr/>
        </p:nvSpPr>
        <p:spPr>
          <a:xfrm>
            <a:off x="8229600" y="1334880"/>
            <a:ext cx="474840" cy="32832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1"/>
          <p:cNvSpPr/>
          <p:nvPr/>
        </p:nvSpPr>
        <p:spPr>
          <a:xfrm>
            <a:off x="8256960" y="133488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Warmup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2"/>
          <p:cNvSpPr/>
          <p:nvPr/>
        </p:nvSpPr>
        <p:spPr>
          <a:xfrm>
            <a:off x="8750880" y="1334880"/>
            <a:ext cx="474840" cy="32832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3"/>
          <p:cNvSpPr/>
          <p:nvPr/>
        </p:nvSpPr>
        <p:spPr>
          <a:xfrm>
            <a:off x="8778240" y="133488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Epochs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54"/>
          <p:cNvSpPr/>
          <p:nvPr/>
        </p:nvSpPr>
        <p:spPr>
          <a:xfrm>
            <a:off x="7315200" y="1700640"/>
            <a:ext cx="410760" cy="328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5"/>
          <p:cNvSpPr/>
          <p:nvPr/>
        </p:nvSpPr>
        <p:spPr>
          <a:xfrm>
            <a:off x="7342560" y="170064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56"/>
          <p:cNvSpPr/>
          <p:nvPr/>
        </p:nvSpPr>
        <p:spPr>
          <a:xfrm>
            <a:off x="7772400" y="1700640"/>
            <a:ext cx="410760" cy="328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7"/>
          <p:cNvSpPr/>
          <p:nvPr/>
        </p:nvSpPr>
        <p:spPr>
          <a:xfrm>
            <a:off x="7799760" y="170064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0.001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58"/>
          <p:cNvSpPr/>
          <p:nvPr/>
        </p:nvSpPr>
        <p:spPr>
          <a:xfrm>
            <a:off x="8229600" y="1700640"/>
            <a:ext cx="474840" cy="328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9"/>
          <p:cNvSpPr/>
          <p:nvPr/>
        </p:nvSpPr>
        <p:spPr>
          <a:xfrm>
            <a:off x="8256960" y="170064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0"/>
          <p:cNvSpPr/>
          <p:nvPr/>
        </p:nvSpPr>
        <p:spPr>
          <a:xfrm>
            <a:off x="8750880" y="1700640"/>
            <a:ext cx="474840" cy="328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1"/>
          <p:cNvSpPr/>
          <p:nvPr/>
        </p:nvSpPr>
        <p:spPr>
          <a:xfrm>
            <a:off x="8778240" y="170064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62"/>
          <p:cNvSpPr/>
          <p:nvPr/>
        </p:nvSpPr>
        <p:spPr>
          <a:xfrm>
            <a:off x="7315200" y="2066400"/>
            <a:ext cx="410760" cy="32832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3"/>
          <p:cNvSpPr/>
          <p:nvPr/>
        </p:nvSpPr>
        <p:spPr>
          <a:xfrm>
            <a:off x="7342560" y="206640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64"/>
          <p:cNvSpPr/>
          <p:nvPr/>
        </p:nvSpPr>
        <p:spPr>
          <a:xfrm>
            <a:off x="7772400" y="2066400"/>
            <a:ext cx="410760" cy="32832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5"/>
          <p:cNvSpPr/>
          <p:nvPr/>
        </p:nvSpPr>
        <p:spPr>
          <a:xfrm>
            <a:off x="7799760" y="206640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0.001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66"/>
          <p:cNvSpPr/>
          <p:nvPr/>
        </p:nvSpPr>
        <p:spPr>
          <a:xfrm>
            <a:off x="8229600" y="2066400"/>
            <a:ext cx="474840" cy="32832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7"/>
          <p:cNvSpPr/>
          <p:nvPr/>
        </p:nvSpPr>
        <p:spPr>
          <a:xfrm>
            <a:off x="8256960" y="206640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68"/>
          <p:cNvSpPr/>
          <p:nvPr/>
        </p:nvSpPr>
        <p:spPr>
          <a:xfrm>
            <a:off x="8750880" y="2066400"/>
            <a:ext cx="474840" cy="32832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9"/>
          <p:cNvSpPr/>
          <p:nvPr/>
        </p:nvSpPr>
        <p:spPr>
          <a:xfrm>
            <a:off x="8778240" y="206640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70"/>
          <p:cNvSpPr/>
          <p:nvPr/>
        </p:nvSpPr>
        <p:spPr>
          <a:xfrm>
            <a:off x="7315200" y="2432160"/>
            <a:ext cx="410760" cy="328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71"/>
          <p:cNvSpPr/>
          <p:nvPr/>
        </p:nvSpPr>
        <p:spPr>
          <a:xfrm>
            <a:off x="7342560" y="243216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72"/>
          <p:cNvSpPr/>
          <p:nvPr/>
        </p:nvSpPr>
        <p:spPr>
          <a:xfrm>
            <a:off x="7772400" y="2432160"/>
            <a:ext cx="410760" cy="328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73"/>
          <p:cNvSpPr/>
          <p:nvPr/>
        </p:nvSpPr>
        <p:spPr>
          <a:xfrm>
            <a:off x="7799760" y="243216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0.001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74"/>
          <p:cNvSpPr/>
          <p:nvPr/>
        </p:nvSpPr>
        <p:spPr>
          <a:xfrm>
            <a:off x="8229600" y="2432160"/>
            <a:ext cx="474840" cy="328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5"/>
          <p:cNvSpPr/>
          <p:nvPr/>
        </p:nvSpPr>
        <p:spPr>
          <a:xfrm>
            <a:off x="8256960" y="243216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6"/>
          <p:cNvSpPr/>
          <p:nvPr/>
        </p:nvSpPr>
        <p:spPr>
          <a:xfrm>
            <a:off x="8750880" y="2432160"/>
            <a:ext cx="474840" cy="32832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7"/>
          <p:cNvSpPr/>
          <p:nvPr/>
        </p:nvSpPr>
        <p:spPr>
          <a:xfrm>
            <a:off x="8778240" y="243216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78"/>
          <p:cNvSpPr/>
          <p:nvPr/>
        </p:nvSpPr>
        <p:spPr>
          <a:xfrm>
            <a:off x="7315200" y="2797920"/>
            <a:ext cx="410760" cy="328320"/>
          </a:xfrm>
          <a:prstGeom prst="rect">
            <a:avLst/>
          </a:prstGeom>
          <a:solidFill>
            <a:srgbClr val="1a1d0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79"/>
          <p:cNvSpPr/>
          <p:nvPr/>
        </p:nvSpPr>
        <p:spPr>
          <a:xfrm>
            <a:off x="7342560" y="279792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80"/>
          <p:cNvSpPr/>
          <p:nvPr/>
        </p:nvSpPr>
        <p:spPr>
          <a:xfrm>
            <a:off x="7772400" y="2797920"/>
            <a:ext cx="410760" cy="328320"/>
          </a:xfrm>
          <a:prstGeom prst="rect">
            <a:avLst/>
          </a:prstGeom>
          <a:solidFill>
            <a:srgbClr val="1a1d0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81"/>
          <p:cNvSpPr/>
          <p:nvPr/>
        </p:nvSpPr>
        <p:spPr>
          <a:xfrm>
            <a:off x="7799760" y="279792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5e-4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82"/>
          <p:cNvSpPr/>
          <p:nvPr/>
        </p:nvSpPr>
        <p:spPr>
          <a:xfrm>
            <a:off x="8229600" y="2797920"/>
            <a:ext cx="474840" cy="328320"/>
          </a:xfrm>
          <a:prstGeom prst="rect">
            <a:avLst/>
          </a:prstGeom>
          <a:solidFill>
            <a:srgbClr val="1a1d0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83"/>
          <p:cNvSpPr/>
          <p:nvPr/>
        </p:nvSpPr>
        <p:spPr>
          <a:xfrm>
            <a:off x="8256960" y="279792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300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84"/>
          <p:cNvSpPr/>
          <p:nvPr/>
        </p:nvSpPr>
        <p:spPr>
          <a:xfrm>
            <a:off x="8750880" y="2797920"/>
            <a:ext cx="474840" cy="328320"/>
          </a:xfrm>
          <a:prstGeom prst="rect">
            <a:avLst/>
          </a:prstGeom>
          <a:solidFill>
            <a:srgbClr val="1a1d0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5"/>
          <p:cNvSpPr/>
          <p:nvPr/>
        </p:nvSpPr>
        <p:spPr>
          <a:xfrm>
            <a:off x="8778240" y="2797920"/>
            <a:ext cx="429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86"/>
          <p:cNvSpPr/>
          <p:nvPr/>
        </p:nvSpPr>
        <p:spPr>
          <a:xfrm>
            <a:off x="274320" y="3749040"/>
            <a:ext cx="8640360" cy="328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7"/>
          <p:cNvSpPr/>
          <p:nvPr/>
        </p:nvSpPr>
        <p:spPr>
          <a:xfrm>
            <a:off x="274320" y="3749040"/>
            <a:ext cx="8640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Динамiка loss: початковий → train (ост. еп.) → val (ост. еп.)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88"/>
          <p:cNvSpPr/>
          <p:nvPr/>
        </p:nvSpPr>
        <p:spPr>
          <a:xfrm>
            <a:off x="274320" y="4114800"/>
            <a:ext cx="1188000" cy="2826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9"/>
          <p:cNvSpPr/>
          <p:nvPr/>
        </p:nvSpPr>
        <p:spPr>
          <a:xfrm>
            <a:off x="311040" y="4114800"/>
            <a:ext cx="11149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90"/>
          <p:cNvSpPr/>
          <p:nvPr/>
        </p:nvSpPr>
        <p:spPr>
          <a:xfrm>
            <a:off x="1508760" y="4114800"/>
            <a:ext cx="1233720" cy="2826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91"/>
          <p:cNvSpPr/>
          <p:nvPr/>
        </p:nvSpPr>
        <p:spPr>
          <a:xfrm>
            <a:off x="1545480" y="4114800"/>
            <a:ext cx="116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Loss₀ (поч.)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92"/>
          <p:cNvSpPr/>
          <p:nvPr/>
        </p:nvSpPr>
        <p:spPr>
          <a:xfrm>
            <a:off x="2788920" y="4114800"/>
            <a:ext cx="1553760" cy="2826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93"/>
          <p:cNvSpPr/>
          <p:nvPr/>
        </p:nvSpPr>
        <p:spPr>
          <a:xfrm>
            <a:off x="2825640" y="411480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Train loss (ост.)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94"/>
          <p:cNvSpPr/>
          <p:nvPr/>
        </p:nvSpPr>
        <p:spPr>
          <a:xfrm>
            <a:off x="4389120" y="4114800"/>
            <a:ext cx="1553760" cy="2826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5"/>
          <p:cNvSpPr/>
          <p:nvPr/>
        </p:nvSpPr>
        <p:spPr>
          <a:xfrm>
            <a:off x="4425840" y="411480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Val loss (ост.)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96"/>
          <p:cNvSpPr/>
          <p:nvPr/>
        </p:nvSpPr>
        <p:spPr>
          <a:xfrm>
            <a:off x="5989320" y="4114800"/>
            <a:ext cx="2971080" cy="2826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97"/>
          <p:cNvSpPr/>
          <p:nvPr/>
        </p:nvSpPr>
        <p:spPr>
          <a:xfrm>
            <a:off x="6026040" y="4114800"/>
            <a:ext cx="289800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Динамiка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98"/>
          <p:cNvSpPr/>
          <p:nvPr/>
        </p:nvSpPr>
        <p:spPr>
          <a:xfrm>
            <a:off x="274320" y="4434840"/>
            <a:ext cx="118800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99"/>
          <p:cNvSpPr/>
          <p:nvPr/>
        </p:nvSpPr>
        <p:spPr>
          <a:xfrm>
            <a:off x="311040" y="4434840"/>
            <a:ext cx="11149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 (T5)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00"/>
          <p:cNvSpPr/>
          <p:nvPr/>
        </p:nvSpPr>
        <p:spPr>
          <a:xfrm>
            <a:off x="1508760" y="4434840"/>
            <a:ext cx="123372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1"/>
          <p:cNvSpPr/>
          <p:nvPr/>
        </p:nvSpPr>
        <p:spPr>
          <a:xfrm>
            <a:off x="1545480" y="4434840"/>
            <a:ext cx="116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2.18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02"/>
          <p:cNvSpPr/>
          <p:nvPr/>
        </p:nvSpPr>
        <p:spPr>
          <a:xfrm>
            <a:off x="2788920" y="4434840"/>
            <a:ext cx="155376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03"/>
          <p:cNvSpPr/>
          <p:nvPr/>
        </p:nvSpPr>
        <p:spPr>
          <a:xfrm>
            <a:off x="2825640" y="443484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1.285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04"/>
          <p:cNvSpPr/>
          <p:nvPr/>
        </p:nvSpPr>
        <p:spPr>
          <a:xfrm>
            <a:off x="4389120" y="4434840"/>
            <a:ext cx="155376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05"/>
          <p:cNvSpPr/>
          <p:nvPr/>
        </p:nvSpPr>
        <p:spPr>
          <a:xfrm>
            <a:off x="4425840" y="443484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0.907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06"/>
          <p:cNvSpPr/>
          <p:nvPr/>
        </p:nvSpPr>
        <p:spPr>
          <a:xfrm>
            <a:off x="5989320" y="4434840"/>
            <a:ext cx="297108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7"/>
          <p:cNvSpPr/>
          <p:nvPr/>
        </p:nvSpPr>
        <p:spPr>
          <a:xfrm>
            <a:off x="6026040" y="4434840"/>
            <a:ext cx="289800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стабiльна збiжнiсть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08"/>
          <p:cNvSpPr/>
          <p:nvPr/>
        </p:nvSpPr>
        <p:spPr>
          <a:xfrm>
            <a:off x="274320" y="4754880"/>
            <a:ext cx="1188000" cy="2826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09"/>
          <p:cNvSpPr/>
          <p:nvPr/>
        </p:nvSpPr>
        <p:spPr>
          <a:xfrm>
            <a:off x="311040" y="4754880"/>
            <a:ext cx="11149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 (mT5)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10"/>
          <p:cNvSpPr/>
          <p:nvPr/>
        </p:nvSpPr>
        <p:spPr>
          <a:xfrm>
            <a:off x="1508760" y="4754880"/>
            <a:ext cx="1233720" cy="2826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11"/>
          <p:cNvSpPr/>
          <p:nvPr/>
        </p:nvSpPr>
        <p:spPr>
          <a:xfrm>
            <a:off x="1545480" y="4754880"/>
            <a:ext cx="116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30.77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12"/>
          <p:cNvSpPr/>
          <p:nvPr/>
        </p:nvSpPr>
        <p:spPr>
          <a:xfrm>
            <a:off x="2788920" y="4754880"/>
            <a:ext cx="1553760" cy="2826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13"/>
          <p:cNvSpPr/>
          <p:nvPr/>
        </p:nvSpPr>
        <p:spPr>
          <a:xfrm>
            <a:off x="2825640" y="475488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1.472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14"/>
          <p:cNvSpPr/>
          <p:nvPr/>
        </p:nvSpPr>
        <p:spPr>
          <a:xfrm>
            <a:off x="4389120" y="4754880"/>
            <a:ext cx="1553760" cy="2826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5"/>
          <p:cNvSpPr/>
          <p:nvPr/>
        </p:nvSpPr>
        <p:spPr>
          <a:xfrm>
            <a:off x="4425840" y="475488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0.977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16"/>
          <p:cNvSpPr/>
          <p:nvPr/>
        </p:nvSpPr>
        <p:spPr>
          <a:xfrm>
            <a:off x="5989320" y="4754880"/>
            <a:ext cx="2971080" cy="2826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17"/>
          <p:cNvSpPr/>
          <p:nvPr/>
        </p:nvSpPr>
        <p:spPr>
          <a:xfrm>
            <a:off x="6026040" y="4754880"/>
            <a:ext cx="289800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швидке падiння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18"/>
          <p:cNvSpPr/>
          <p:nvPr/>
        </p:nvSpPr>
        <p:spPr>
          <a:xfrm>
            <a:off x="274320" y="5074920"/>
            <a:ext cx="118800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19"/>
          <p:cNvSpPr/>
          <p:nvPr/>
        </p:nvSpPr>
        <p:spPr>
          <a:xfrm>
            <a:off x="311040" y="5074920"/>
            <a:ext cx="11149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 (mT5)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20"/>
          <p:cNvSpPr/>
          <p:nvPr/>
        </p:nvSpPr>
        <p:spPr>
          <a:xfrm>
            <a:off x="1508760" y="5074920"/>
            <a:ext cx="123372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21"/>
          <p:cNvSpPr/>
          <p:nvPr/>
        </p:nvSpPr>
        <p:spPr>
          <a:xfrm>
            <a:off x="1545480" y="5074920"/>
            <a:ext cx="116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23.35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2"/>
          <p:cNvSpPr/>
          <p:nvPr/>
        </p:nvSpPr>
        <p:spPr>
          <a:xfrm>
            <a:off x="2788920" y="5074920"/>
            <a:ext cx="155376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3"/>
          <p:cNvSpPr/>
          <p:nvPr/>
        </p:nvSpPr>
        <p:spPr>
          <a:xfrm>
            <a:off x="2825640" y="507492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1.577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4"/>
          <p:cNvSpPr/>
          <p:nvPr/>
        </p:nvSpPr>
        <p:spPr>
          <a:xfrm>
            <a:off x="4389120" y="5074920"/>
            <a:ext cx="155376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25"/>
          <p:cNvSpPr/>
          <p:nvPr/>
        </p:nvSpPr>
        <p:spPr>
          <a:xfrm>
            <a:off x="4425840" y="507492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0.996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26"/>
          <p:cNvSpPr/>
          <p:nvPr/>
        </p:nvSpPr>
        <p:spPr>
          <a:xfrm>
            <a:off x="5989320" y="5074920"/>
            <a:ext cx="2971080" cy="2826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27"/>
          <p:cNvSpPr/>
          <p:nvPr/>
        </p:nvSpPr>
        <p:spPr>
          <a:xfrm>
            <a:off x="6026040" y="5074920"/>
            <a:ext cx="289800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нормальна збiжнiсть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28"/>
          <p:cNvSpPr/>
          <p:nvPr/>
        </p:nvSpPr>
        <p:spPr>
          <a:xfrm>
            <a:off x="274320" y="5394960"/>
            <a:ext cx="1188000" cy="28260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29"/>
          <p:cNvSpPr/>
          <p:nvPr/>
        </p:nvSpPr>
        <p:spPr>
          <a:xfrm>
            <a:off x="311040" y="5394960"/>
            <a:ext cx="11149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UK (mT5)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30"/>
          <p:cNvSpPr/>
          <p:nvPr/>
        </p:nvSpPr>
        <p:spPr>
          <a:xfrm>
            <a:off x="1508760" y="5394960"/>
            <a:ext cx="1233720" cy="28260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31"/>
          <p:cNvSpPr/>
          <p:nvPr/>
        </p:nvSpPr>
        <p:spPr>
          <a:xfrm>
            <a:off x="1545480" y="5394960"/>
            <a:ext cx="1160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35.31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32"/>
          <p:cNvSpPr/>
          <p:nvPr/>
        </p:nvSpPr>
        <p:spPr>
          <a:xfrm>
            <a:off x="2788920" y="5394960"/>
            <a:ext cx="1553760" cy="28260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33"/>
          <p:cNvSpPr/>
          <p:nvPr/>
        </p:nvSpPr>
        <p:spPr>
          <a:xfrm>
            <a:off x="2825640" y="539496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0.425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34"/>
          <p:cNvSpPr/>
          <p:nvPr/>
        </p:nvSpPr>
        <p:spPr>
          <a:xfrm>
            <a:off x="4389120" y="5394960"/>
            <a:ext cx="1553760" cy="28260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35"/>
          <p:cNvSpPr/>
          <p:nvPr/>
        </p:nvSpPr>
        <p:spPr>
          <a:xfrm>
            <a:off x="4425840" y="5394960"/>
            <a:ext cx="1480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0.280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36"/>
          <p:cNvSpPr/>
          <p:nvPr/>
        </p:nvSpPr>
        <p:spPr>
          <a:xfrm>
            <a:off x="5989320" y="5394960"/>
            <a:ext cx="2971080" cy="28260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37"/>
          <p:cNvSpPr/>
          <p:nvPr/>
        </p:nvSpPr>
        <p:spPr>
          <a:xfrm>
            <a:off x="6026040" y="5394960"/>
            <a:ext cx="289800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! перенавчання на UA-GEC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Результати навчання GEC — BLEU (Таблиця 3.5)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4" name="Chart 0"/>
          <p:cNvGraphicFramePr/>
          <p:nvPr/>
        </p:nvGraphicFramePr>
        <p:xfrm>
          <a:off x="274320" y="868680"/>
          <a:ext cx="5119920" cy="3839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5" name="Shape 2"/>
          <p:cNvSpPr/>
          <p:nvPr/>
        </p:nvSpPr>
        <p:spPr>
          <a:xfrm>
            <a:off x="5532120" y="960120"/>
            <a:ext cx="502200" cy="5752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5559480" y="960120"/>
            <a:ext cx="4474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6071760" y="960120"/>
            <a:ext cx="749160" cy="5752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6099120" y="960120"/>
            <a:ext cx="694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BLEU↑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6858000" y="960120"/>
            <a:ext cx="593640" cy="5752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6885360" y="96012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Exact%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8"/>
          <p:cNvSpPr/>
          <p:nvPr/>
        </p:nvSpPr>
        <p:spPr>
          <a:xfrm>
            <a:off x="7489080" y="960120"/>
            <a:ext cx="593640" cy="5752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7516440" y="96012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Unchn%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8119800" y="960120"/>
            <a:ext cx="977760" cy="5752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8147160" y="960120"/>
            <a:ext cx="9226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Якісна оцінка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2"/>
          <p:cNvSpPr/>
          <p:nvPr/>
        </p:nvSpPr>
        <p:spPr>
          <a:xfrm>
            <a:off x="5532120" y="1618560"/>
            <a:ext cx="50220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3"/>
          <p:cNvSpPr/>
          <p:nvPr/>
        </p:nvSpPr>
        <p:spPr>
          <a:xfrm>
            <a:off x="5559480" y="1618560"/>
            <a:ext cx="4474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4"/>
          <p:cNvSpPr/>
          <p:nvPr/>
        </p:nvSpPr>
        <p:spPr>
          <a:xfrm>
            <a:off x="6071760" y="1618560"/>
            <a:ext cx="74916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5"/>
          <p:cNvSpPr/>
          <p:nvPr/>
        </p:nvSpPr>
        <p:spPr>
          <a:xfrm>
            <a:off x="6099120" y="1618560"/>
            <a:ext cx="694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+16.53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6"/>
          <p:cNvSpPr/>
          <p:nvPr/>
        </p:nvSpPr>
        <p:spPr>
          <a:xfrm>
            <a:off x="6858000" y="1618560"/>
            <a:ext cx="59364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7"/>
          <p:cNvSpPr/>
          <p:nvPr/>
        </p:nvSpPr>
        <p:spPr>
          <a:xfrm>
            <a:off x="6885360" y="161856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8"/>
          <p:cNvSpPr/>
          <p:nvPr/>
        </p:nvSpPr>
        <p:spPr>
          <a:xfrm>
            <a:off x="7489080" y="1618560"/>
            <a:ext cx="59364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9"/>
          <p:cNvSpPr/>
          <p:nvPr/>
        </p:nvSpPr>
        <p:spPr>
          <a:xfrm>
            <a:off x="7516440" y="161856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0"/>
          <p:cNvSpPr/>
          <p:nvPr/>
        </p:nvSpPr>
        <p:spPr>
          <a:xfrm>
            <a:off x="8119800" y="1618560"/>
            <a:ext cx="97776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1"/>
          <p:cNvSpPr/>
          <p:nvPr/>
        </p:nvSpPr>
        <p:spPr>
          <a:xfrm>
            <a:off x="8147160" y="1618560"/>
            <a:ext cx="9226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7/8 (87.5%)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2"/>
          <p:cNvSpPr/>
          <p:nvPr/>
        </p:nvSpPr>
        <p:spPr>
          <a:xfrm>
            <a:off x="5532120" y="2277000"/>
            <a:ext cx="502200" cy="57528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3"/>
          <p:cNvSpPr/>
          <p:nvPr/>
        </p:nvSpPr>
        <p:spPr>
          <a:xfrm>
            <a:off x="5559480" y="2277000"/>
            <a:ext cx="4474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4"/>
          <p:cNvSpPr/>
          <p:nvPr/>
        </p:nvSpPr>
        <p:spPr>
          <a:xfrm>
            <a:off x="6071760" y="2277000"/>
            <a:ext cx="749160" cy="57528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5"/>
          <p:cNvSpPr/>
          <p:nvPr/>
        </p:nvSpPr>
        <p:spPr>
          <a:xfrm>
            <a:off x="6099120" y="2277000"/>
            <a:ext cx="694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+60.32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6"/>
          <p:cNvSpPr/>
          <p:nvPr/>
        </p:nvSpPr>
        <p:spPr>
          <a:xfrm>
            <a:off x="6858000" y="2277000"/>
            <a:ext cx="593640" cy="57528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7"/>
          <p:cNvSpPr/>
          <p:nvPr/>
        </p:nvSpPr>
        <p:spPr>
          <a:xfrm>
            <a:off x="6885360" y="227700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8"/>
          <p:cNvSpPr/>
          <p:nvPr/>
        </p:nvSpPr>
        <p:spPr>
          <a:xfrm>
            <a:off x="7489080" y="2277000"/>
            <a:ext cx="593640" cy="57528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9"/>
          <p:cNvSpPr/>
          <p:nvPr/>
        </p:nvSpPr>
        <p:spPr>
          <a:xfrm>
            <a:off x="7516440" y="227700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0"/>
          <p:cNvSpPr/>
          <p:nvPr/>
        </p:nvSpPr>
        <p:spPr>
          <a:xfrm>
            <a:off x="8119800" y="2277000"/>
            <a:ext cx="977760" cy="57528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1"/>
          <p:cNvSpPr/>
          <p:nvPr/>
        </p:nvSpPr>
        <p:spPr>
          <a:xfrm>
            <a:off x="8147160" y="2277000"/>
            <a:ext cx="9226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4/5 (80.0%)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2"/>
          <p:cNvSpPr/>
          <p:nvPr/>
        </p:nvSpPr>
        <p:spPr>
          <a:xfrm>
            <a:off x="5532120" y="2935080"/>
            <a:ext cx="50220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3"/>
          <p:cNvSpPr/>
          <p:nvPr/>
        </p:nvSpPr>
        <p:spPr>
          <a:xfrm>
            <a:off x="5559480" y="2935080"/>
            <a:ext cx="4474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4"/>
          <p:cNvSpPr/>
          <p:nvPr/>
        </p:nvSpPr>
        <p:spPr>
          <a:xfrm>
            <a:off x="6071760" y="2935080"/>
            <a:ext cx="74916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5"/>
          <p:cNvSpPr/>
          <p:nvPr/>
        </p:nvSpPr>
        <p:spPr>
          <a:xfrm>
            <a:off x="6099120" y="2935080"/>
            <a:ext cx="694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+45.25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36"/>
          <p:cNvSpPr/>
          <p:nvPr/>
        </p:nvSpPr>
        <p:spPr>
          <a:xfrm>
            <a:off x="6858000" y="2935080"/>
            <a:ext cx="59364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7"/>
          <p:cNvSpPr/>
          <p:nvPr/>
        </p:nvSpPr>
        <p:spPr>
          <a:xfrm>
            <a:off x="6885360" y="293508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8"/>
          <p:cNvSpPr/>
          <p:nvPr/>
        </p:nvSpPr>
        <p:spPr>
          <a:xfrm>
            <a:off x="7489080" y="2935080"/>
            <a:ext cx="59364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39"/>
          <p:cNvSpPr/>
          <p:nvPr/>
        </p:nvSpPr>
        <p:spPr>
          <a:xfrm>
            <a:off x="7516440" y="293508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40"/>
          <p:cNvSpPr/>
          <p:nvPr/>
        </p:nvSpPr>
        <p:spPr>
          <a:xfrm>
            <a:off x="8119800" y="2935080"/>
            <a:ext cx="977760" cy="5752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41"/>
          <p:cNvSpPr/>
          <p:nvPr/>
        </p:nvSpPr>
        <p:spPr>
          <a:xfrm>
            <a:off x="8147160" y="2935080"/>
            <a:ext cx="9226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3/5 (60.0%)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42"/>
          <p:cNvSpPr/>
          <p:nvPr/>
        </p:nvSpPr>
        <p:spPr>
          <a:xfrm>
            <a:off x="5532120" y="3593520"/>
            <a:ext cx="502200" cy="57528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43"/>
          <p:cNvSpPr/>
          <p:nvPr/>
        </p:nvSpPr>
        <p:spPr>
          <a:xfrm>
            <a:off x="5559480" y="3593520"/>
            <a:ext cx="4474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4"/>
          <p:cNvSpPr/>
          <p:nvPr/>
        </p:nvSpPr>
        <p:spPr>
          <a:xfrm>
            <a:off x="6071760" y="3593520"/>
            <a:ext cx="749160" cy="57528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5"/>
          <p:cNvSpPr/>
          <p:nvPr/>
        </p:nvSpPr>
        <p:spPr>
          <a:xfrm>
            <a:off x="6099120" y="3593520"/>
            <a:ext cx="6940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+84.78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46"/>
          <p:cNvSpPr/>
          <p:nvPr/>
        </p:nvSpPr>
        <p:spPr>
          <a:xfrm>
            <a:off x="6858000" y="3593520"/>
            <a:ext cx="593640" cy="57528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7"/>
          <p:cNvSpPr/>
          <p:nvPr/>
        </p:nvSpPr>
        <p:spPr>
          <a:xfrm>
            <a:off x="6885360" y="359352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8"/>
          <p:cNvSpPr/>
          <p:nvPr/>
        </p:nvSpPr>
        <p:spPr>
          <a:xfrm>
            <a:off x="7489080" y="3593520"/>
            <a:ext cx="593640" cy="57528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49"/>
          <p:cNvSpPr/>
          <p:nvPr/>
        </p:nvSpPr>
        <p:spPr>
          <a:xfrm>
            <a:off x="7516440" y="3593520"/>
            <a:ext cx="53892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50"/>
          <p:cNvSpPr/>
          <p:nvPr/>
        </p:nvSpPr>
        <p:spPr>
          <a:xfrm>
            <a:off x="8119800" y="3593520"/>
            <a:ext cx="977760" cy="57528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1"/>
          <p:cNvSpPr/>
          <p:nvPr/>
        </p:nvSpPr>
        <p:spPr>
          <a:xfrm>
            <a:off x="8147160" y="3593520"/>
            <a:ext cx="92268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1/8 (12.5%)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52"/>
          <p:cNvSpPr/>
          <p:nvPr/>
        </p:nvSpPr>
        <p:spPr>
          <a:xfrm>
            <a:off x="5532120" y="429768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Unchn% — речення, що не зазнали змiн. KO=62%: агглютинативна морфологiя складна для mT5.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53"/>
          <p:cNvSpPr/>
          <p:nvPr/>
        </p:nvSpPr>
        <p:spPr>
          <a:xfrm>
            <a:off x="5532120" y="464508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Закон Гудхарта: UK BLEU=84.86 — пунктуацiйнi патерни UA-GEC, не виправлення помилок учнiв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"/>
          <p:cNvSpPr/>
          <p:nvPr/>
        </p:nvSpPr>
        <p:spPr>
          <a:xfrm>
            <a:off x="457200" y="164520"/>
            <a:ext cx="8228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Адаптивна система навчання — RandomForest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"/>
          <p:cNvSpPr/>
          <p:nvPr/>
        </p:nvSpPr>
        <p:spPr>
          <a:xfrm>
            <a:off x="457200" y="694800"/>
            <a:ext cx="1279440" cy="49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"/>
          <p:cNvSpPr/>
          <p:nvPr/>
        </p:nvSpPr>
        <p:spPr>
          <a:xfrm>
            <a:off x="274320" y="987480"/>
            <a:ext cx="2193840" cy="657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4"/>
          <p:cNvSpPr/>
          <p:nvPr/>
        </p:nvSpPr>
        <p:spPr>
          <a:xfrm>
            <a:off x="274320" y="987480"/>
            <a:ext cx="2193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&lt; 25 взаємодій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(cold start)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5"/>
          <p:cNvSpPr/>
          <p:nvPr/>
        </p:nvSpPr>
        <p:spPr>
          <a:xfrm>
            <a:off x="2468880" y="1316520"/>
            <a:ext cx="54864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3017520" y="987480"/>
            <a:ext cx="2925360" cy="657720"/>
          </a:xfrm>
          <a:prstGeom prst="rect">
            <a:avLst/>
          </a:prstGeom>
          <a:solidFill>
            <a:srgbClr val="e8f8f4"/>
          </a:solidFill>
          <a:ln w="1905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7"/>
          <p:cNvSpPr/>
          <p:nvPr/>
        </p:nvSpPr>
        <p:spPr>
          <a:xfrm>
            <a:off x="3017520" y="987480"/>
            <a:ext cx="29253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RandomForest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features: avg_similarity, avg_time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8"/>
          <p:cNvSpPr/>
          <p:nvPr/>
        </p:nvSpPr>
        <p:spPr>
          <a:xfrm>
            <a:off x="5943600" y="1316520"/>
            <a:ext cx="45720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9"/>
          <p:cNvSpPr/>
          <p:nvPr/>
        </p:nvSpPr>
        <p:spPr>
          <a:xfrm>
            <a:off x="6400800" y="1051560"/>
            <a:ext cx="2010960" cy="529560"/>
          </a:xfrm>
          <a:prstGeom prst="ellipse">
            <a:avLst/>
          </a:prstGeom>
          <a:solidFill>
            <a:srgbClr val="045a6a"/>
          </a:solidFill>
          <a:ln w="1524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0"/>
          <p:cNvSpPr/>
          <p:nvPr/>
        </p:nvSpPr>
        <p:spPr>
          <a:xfrm>
            <a:off x="6400800" y="1051560"/>
            <a:ext cx="2010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p(успіху на кроках 7-8)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1"/>
          <p:cNvSpPr/>
          <p:nvPr/>
        </p:nvSpPr>
        <p:spPr>
          <a:xfrm>
            <a:off x="274320" y="1965960"/>
            <a:ext cx="8503200" cy="776520"/>
          </a:xfrm>
          <a:prstGeom prst="rect">
            <a:avLst/>
          </a:prstGeom>
          <a:solidFill>
            <a:srgbClr val="e8faf2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2"/>
          <p:cNvSpPr/>
          <p:nvPr/>
        </p:nvSpPr>
        <p:spPr>
          <a:xfrm>
            <a:off x="411480" y="2011680"/>
            <a:ext cx="2010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onsolas"/>
                <a:ea typeface="Consolas"/>
              </a:rPr>
              <a:t>p ≥ 0.75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3"/>
          <p:cNvSpPr/>
          <p:nvPr/>
        </p:nvSpPr>
        <p:spPr>
          <a:xfrm>
            <a:off x="411480" y="23684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SKIP_EASY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4"/>
          <p:cNvSpPr/>
          <p:nvPr/>
        </p:nvSpPr>
        <p:spPr>
          <a:xfrm>
            <a:off x="2514600" y="2094120"/>
            <a:ext cx="3931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cc71"/>
                </a:solidFill>
                <a:effectLst/>
                <a:uFillTx/>
                <a:latin typeface="Consolas"/>
                <a:ea typeface="Consolas"/>
              </a:rPr>
              <a:t>[1, 4, 5, 6, 7, 8]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5"/>
          <p:cNvSpPr/>
          <p:nvPr/>
        </p:nvSpPr>
        <p:spPr>
          <a:xfrm>
            <a:off x="2514600" y="242316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Пропуск кроків 2, 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6"/>
          <p:cNvSpPr/>
          <p:nvPr/>
        </p:nvSpPr>
        <p:spPr>
          <a:xfrm>
            <a:off x="274320" y="2926080"/>
            <a:ext cx="8503200" cy="776520"/>
          </a:xfrm>
          <a:prstGeom prst="rect">
            <a:avLst/>
          </a:prstGeom>
          <a:solidFill>
            <a:srgbClr val="e0f0f2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7"/>
          <p:cNvSpPr/>
          <p:nvPr/>
        </p:nvSpPr>
        <p:spPr>
          <a:xfrm>
            <a:off x="411480" y="2971800"/>
            <a:ext cx="2010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8090"/>
                </a:solidFill>
                <a:effectLst/>
                <a:uFillTx/>
                <a:latin typeface="Consolas"/>
                <a:ea typeface="Consolas"/>
              </a:rPr>
              <a:t>0.45 ≤ p &lt; 0.75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8"/>
          <p:cNvSpPr/>
          <p:nvPr/>
        </p:nvSpPr>
        <p:spPr>
          <a:xfrm>
            <a:off x="411480" y="332856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FULL_SEQUENCE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9"/>
          <p:cNvSpPr/>
          <p:nvPr/>
        </p:nvSpPr>
        <p:spPr>
          <a:xfrm>
            <a:off x="2514600" y="3054240"/>
            <a:ext cx="3931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8090"/>
                </a:solidFill>
                <a:effectLst/>
                <a:uFillTx/>
                <a:latin typeface="Consolas"/>
                <a:ea typeface="Consolas"/>
              </a:rPr>
              <a:t>[1, 2, 3, 4, 5, 6, 7, 8]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0"/>
          <p:cNvSpPr/>
          <p:nvPr/>
        </p:nvSpPr>
        <p:spPr>
          <a:xfrm>
            <a:off x="2514600" y="338328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Повна послідовність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21"/>
          <p:cNvSpPr/>
          <p:nvPr/>
        </p:nvSpPr>
        <p:spPr>
          <a:xfrm>
            <a:off x="274320" y="3886200"/>
            <a:ext cx="8503200" cy="776520"/>
          </a:xfrm>
          <a:prstGeom prst="rect">
            <a:avLst/>
          </a:prstGeom>
          <a:solidFill>
            <a:srgbClr val="fde8e8"/>
          </a:solidFill>
          <a:ln w="1270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2"/>
          <p:cNvSpPr/>
          <p:nvPr/>
        </p:nvSpPr>
        <p:spPr>
          <a:xfrm>
            <a:off x="411480" y="3931920"/>
            <a:ext cx="2010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05252"/>
                </a:solidFill>
                <a:effectLst/>
                <a:uFillTx/>
                <a:latin typeface="Consolas"/>
                <a:ea typeface="Consolas"/>
              </a:rPr>
              <a:t>p &lt; 0.45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3"/>
          <p:cNvSpPr/>
          <p:nvPr/>
        </p:nvSpPr>
        <p:spPr>
          <a:xfrm>
            <a:off x="411480" y="428868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EXTRA_REPEAT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4"/>
          <p:cNvSpPr/>
          <p:nvPr/>
        </p:nvSpPr>
        <p:spPr>
          <a:xfrm>
            <a:off x="2514600" y="4014360"/>
            <a:ext cx="3931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05252"/>
                </a:solidFill>
                <a:effectLst/>
                <a:uFillTx/>
                <a:latin typeface="Consolas"/>
                <a:ea typeface="Consolas"/>
              </a:rPr>
              <a:t>[1, 2, 2, 3, 4, 5, 6, 7, 8]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5"/>
          <p:cNvSpPr/>
          <p:nvPr/>
        </p:nvSpPr>
        <p:spPr>
          <a:xfrm>
            <a:off x="2514600" y="434340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Подвійне повторення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6"/>
          <p:cNvSpPr/>
          <p:nvPr/>
        </p:nvSpPr>
        <p:spPr>
          <a:xfrm>
            <a:off x="274320" y="4754880"/>
            <a:ext cx="8503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RF params: n_estimators=50, max_depth=4, class_weight='balanced', random_state=42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Система гейміфікації та мотивації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"/>
          <p:cNvSpPr/>
          <p:nvPr/>
        </p:nvSpPr>
        <p:spPr>
          <a:xfrm>
            <a:off x="274320" y="960120"/>
            <a:ext cx="2696760" cy="1599480"/>
          </a:xfrm>
          <a:prstGeom prst="rect">
            <a:avLst/>
          </a:prstGeom>
          <a:solidFill>
            <a:srgbClr val="132b3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402480" y="105156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⭐ XP-система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402480" y="14356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+5–20 XP за крок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402480" y="17830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+5 XP бонус при accuracy &gt;80%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402480" y="21304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+30 XP за урок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7"/>
          <p:cNvSpPr/>
          <p:nvPr/>
        </p:nvSpPr>
        <p:spPr>
          <a:xfrm>
            <a:off x="3246120" y="960120"/>
            <a:ext cx="2696760" cy="1599480"/>
          </a:xfrm>
          <a:prstGeom prst="rect">
            <a:avLst/>
          </a:prstGeom>
          <a:solidFill>
            <a:srgbClr val="132b3f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3374280" y="105156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🏆 7 рівнів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3374280" y="14356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Beginner → Master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3374280" y="17830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Прогресивні XP-пороги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3374280" y="21304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Видимий прогрес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2"/>
          <p:cNvSpPr/>
          <p:nvPr/>
        </p:nvSpPr>
        <p:spPr>
          <a:xfrm>
            <a:off x="6217920" y="960120"/>
            <a:ext cx="2696760" cy="1599480"/>
          </a:xfrm>
          <a:prstGeom prst="rect">
            <a:avLst/>
          </a:prstGeom>
          <a:solidFill>
            <a:srgbClr val="132b3f"/>
          </a:solidFill>
          <a:ln w="1270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3"/>
          <p:cNvSpPr/>
          <p:nvPr/>
        </p:nvSpPr>
        <p:spPr>
          <a:xfrm>
            <a:off x="6346080" y="105156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🔥 Streaks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6346080" y="14356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Щоденна серія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6346080" y="17830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Скидання при пропуску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6346080" y="21304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Стимул регулярності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274320" y="2788920"/>
            <a:ext cx="2696760" cy="159948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8"/>
          <p:cNvSpPr/>
          <p:nvPr/>
        </p:nvSpPr>
        <p:spPr>
          <a:xfrm>
            <a:off x="402480" y="288036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🎖 11 бейджів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9"/>
          <p:cNvSpPr/>
          <p:nvPr/>
        </p:nvSpPr>
        <p:spPr>
          <a:xfrm>
            <a:off x="402480" y="32644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Перший урок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0"/>
          <p:cNvSpPr/>
          <p:nvPr/>
        </p:nvSpPr>
        <p:spPr>
          <a:xfrm>
            <a:off x="402480" y="36118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7-денний стрік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1"/>
          <p:cNvSpPr/>
          <p:nvPr/>
        </p:nvSpPr>
        <p:spPr>
          <a:xfrm>
            <a:off x="402480" y="39592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100 уроків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2"/>
          <p:cNvSpPr/>
          <p:nvPr/>
        </p:nvSpPr>
        <p:spPr>
          <a:xfrm>
            <a:off x="402480" y="43066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Висока точність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3"/>
          <p:cNvSpPr/>
          <p:nvPr/>
        </p:nvSpPr>
        <p:spPr>
          <a:xfrm>
            <a:off x="3246120" y="2788920"/>
            <a:ext cx="2696760" cy="1599480"/>
          </a:xfrm>
          <a:prstGeom prst="rect">
            <a:avLst/>
          </a:prstGeom>
          <a:solidFill>
            <a:srgbClr val="132b3f"/>
          </a:solidFill>
          <a:ln w="12700">
            <a:solidFill>
              <a:srgbClr val="90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4"/>
          <p:cNvSpPr/>
          <p:nvPr/>
        </p:nvSpPr>
        <p:spPr>
          <a:xfrm>
            <a:off x="3374280" y="288036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📊 Логування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5"/>
          <p:cNvSpPr/>
          <p:nvPr/>
        </p:nvSpPr>
        <p:spPr>
          <a:xfrm>
            <a:off x="3374280" y="32644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CSV по кожному користувачу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6"/>
          <p:cNvSpPr/>
          <p:nvPr/>
        </p:nvSpPr>
        <p:spPr>
          <a:xfrm>
            <a:off x="3374280" y="36118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Google Sheets хмара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7"/>
          <p:cNvSpPr/>
          <p:nvPr/>
        </p:nvSpPr>
        <p:spPr>
          <a:xfrm>
            <a:off x="3374280" y="39592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1 126 записів (пілот)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8"/>
          <p:cNvSpPr/>
          <p:nvPr/>
        </p:nvSpPr>
        <p:spPr>
          <a:xfrm>
            <a:off x="6217920" y="2788920"/>
            <a:ext cx="2696760" cy="1599480"/>
          </a:xfrm>
          <a:prstGeom prst="rect">
            <a:avLst/>
          </a:prstGeom>
          <a:solidFill>
            <a:srgbClr val="132b3f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9"/>
          <p:cNvSpPr/>
          <p:nvPr/>
        </p:nvSpPr>
        <p:spPr>
          <a:xfrm>
            <a:off x="6346080" y="288036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🧠 SDT (Ryan &amp; Deci)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0"/>
          <p:cNvSpPr/>
          <p:nvPr/>
        </p:nvSpPr>
        <p:spPr>
          <a:xfrm>
            <a:off x="6346080" y="32644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Зовнішня мотивація → початок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1"/>
          <p:cNvSpPr/>
          <p:nvPr/>
        </p:nvSpPr>
        <p:spPr>
          <a:xfrm>
            <a:off x="6346080" y="36118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Підтримка до формування внутр.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2"/>
          <p:cNvSpPr/>
          <p:nvPr/>
        </p:nvSpPr>
        <p:spPr>
          <a:xfrm>
            <a:off x="6346080" y="395928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Retention = ключ у CALL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457200" y="164520"/>
            <a:ext cx="8228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Результати аналізу логів — схожість по кроках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457200" y="694800"/>
            <a:ext cx="1279440" cy="49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0" name="Chart 0"/>
          <p:cNvGraphicFramePr/>
          <p:nvPr/>
        </p:nvGraphicFramePr>
        <p:xfrm>
          <a:off x="274320" y="914400"/>
          <a:ext cx="5302800" cy="347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01" name="Chart 1"/>
          <p:cNvGraphicFramePr/>
          <p:nvPr/>
        </p:nvGraphicFramePr>
        <p:xfrm>
          <a:off x="5669280" y="914400"/>
          <a:ext cx="3245400" cy="347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2" name="Text 3"/>
          <p:cNvSpPr/>
          <p:nvPr/>
        </p:nvSpPr>
        <p:spPr>
          <a:xfrm>
            <a:off x="274320" y="443484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Середня схожість по кроках (n=1 126)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4"/>
          <p:cNvSpPr/>
          <p:nvPr/>
        </p:nvSpPr>
        <p:spPr>
          <a:xfrm>
            <a:off x="5669280" y="443484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Pass rate по кроках (%)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5"/>
          <p:cNvSpPr/>
          <p:nvPr/>
        </p:nvSpPr>
        <p:spPr>
          <a:xfrm>
            <a:off x="274320" y="4736520"/>
            <a:ext cx="8548920" cy="255240"/>
          </a:xfrm>
          <a:prstGeom prst="rect">
            <a:avLst/>
          </a:prstGeom>
          <a:solidFill>
            <a:srgbClr val="fff8e1"/>
          </a:solidFill>
          <a:ln w="635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6"/>
          <p:cNvSpPr/>
          <p:nvPr/>
        </p:nvSpPr>
        <p:spPr>
          <a:xfrm>
            <a:off x="384120" y="4745880"/>
            <a:ext cx="83203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5c00"/>
                </a:solidFill>
                <a:effectLst/>
                <a:uFillTx/>
                <a:latin typeface="Calibri"/>
                <a:ea typeface="Calibri"/>
              </a:rPr>
              <a:t>⚠  Кроки 2 (Listen) і 5 (Shadow) — вимовні вправи, low pass rate (~5%) через строгий поріг STT (0.82)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457200" y="164520"/>
            <a:ext cx="8228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Порiвняльний аналiз iз iснуючими рiшеннями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"/>
          <p:cNvSpPr/>
          <p:nvPr/>
        </p:nvSpPr>
        <p:spPr>
          <a:xfrm>
            <a:off x="457200" y="694800"/>
            <a:ext cx="1279440" cy="49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3"/>
          <p:cNvSpPr/>
          <p:nvPr/>
        </p:nvSpPr>
        <p:spPr>
          <a:xfrm>
            <a:off x="274320" y="914400"/>
            <a:ext cx="2513880" cy="456480"/>
          </a:xfrm>
          <a:prstGeom prst="rect">
            <a:avLst/>
          </a:prstGeom>
          <a:solidFill>
            <a:srgbClr val="0f2233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"/>
          <p:cNvSpPr/>
          <p:nvPr/>
        </p:nvSpPr>
        <p:spPr>
          <a:xfrm>
            <a:off x="329040" y="91440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Функцiя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5"/>
          <p:cNvSpPr/>
          <p:nvPr/>
        </p:nvSpPr>
        <p:spPr>
          <a:xfrm>
            <a:off x="2880360" y="914400"/>
            <a:ext cx="1233720" cy="456480"/>
          </a:xfrm>
          <a:prstGeom prst="rect">
            <a:avLst/>
          </a:prstGeom>
          <a:solidFill>
            <a:srgbClr val="0f2233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2935080" y="914400"/>
            <a:ext cx="1142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Duolingo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7"/>
          <p:cNvSpPr/>
          <p:nvPr/>
        </p:nvSpPr>
        <p:spPr>
          <a:xfrm>
            <a:off x="4206240" y="914400"/>
            <a:ext cx="913680" cy="456480"/>
          </a:xfrm>
          <a:prstGeom prst="rect">
            <a:avLst/>
          </a:prstGeom>
          <a:solidFill>
            <a:srgbClr val="0f2233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8"/>
          <p:cNvSpPr/>
          <p:nvPr/>
        </p:nvSpPr>
        <p:spPr>
          <a:xfrm>
            <a:off x="4260960" y="914400"/>
            <a:ext cx="822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Babbel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9"/>
          <p:cNvSpPr/>
          <p:nvPr/>
        </p:nvSpPr>
        <p:spPr>
          <a:xfrm>
            <a:off x="5212080" y="914400"/>
            <a:ext cx="1050840" cy="456480"/>
          </a:xfrm>
          <a:prstGeom prst="rect">
            <a:avLst/>
          </a:prstGeom>
          <a:solidFill>
            <a:srgbClr val="0f2233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5266800" y="914400"/>
            <a:ext cx="959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Rosetta 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1"/>
          <p:cNvSpPr/>
          <p:nvPr/>
        </p:nvSpPr>
        <p:spPr>
          <a:xfrm>
            <a:off x="6355080" y="914400"/>
            <a:ext cx="1462320" cy="456480"/>
          </a:xfrm>
          <a:prstGeom prst="rect">
            <a:avLst/>
          </a:prstGeom>
          <a:solidFill>
            <a:srgbClr val="028090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2"/>
          <p:cNvSpPr/>
          <p:nvPr/>
        </p:nvSpPr>
        <p:spPr>
          <a:xfrm>
            <a:off x="6409800" y="914400"/>
            <a:ext cx="1370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IMLLS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3"/>
          <p:cNvSpPr/>
          <p:nvPr/>
        </p:nvSpPr>
        <p:spPr>
          <a:xfrm>
            <a:off x="274320" y="1426320"/>
            <a:ext cx="251388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4"/>
          <p:cNvSpPr/>
          <p:nvPr/>
        </p:nvSpPr>
        <p:spPr>
          <a:xfrm>
            <a:off x="329040" y="1426320"/>
            <a:ext cx="2422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Вимова (STT-based)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5"/>
          <p:cNvSpPr/>
          <p:nvPr/>
        </p:nvSpPr>
        <p:spPr>
          <a:xfrm>
            <a:off x="2880360" y="1426320"/>
            <a:ext cx="123372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6"/>
          <p:cNvSpPr/>
          <p:nvPr/>
        </p:nvSpPr>
        <p:spPr>
          <a:xfrm>
            <a:off x="2935080" y="1426320"/>
            <a:ext cx="1142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7"/>
          <p:cNvSpPr/>
          <p:nvPr/>
        </p:nvSpPr>
        <p:spPr>
          <a:xfrm>
            <a:off x="4206240" y="1426320"/>
            <a:ext cx="91368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8"/>
          <p:cNvSpPr/>
          <p:nvPr/>
        </p:nvSpPr>
        <p:spPr>
          <a:xfrm>
            <a:off x="4260960" y="1426320"/>
            <a:ext cx="822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9"/>
          <p:cNvSpPr/>
          <p:nvPr/>
        </p:nvSpPr>
        <p:spPr>
          <a:xfrm>
            <a:off x="5212080" y="1426320"/>
            <a:ext cx="105084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0"/>
          <p:cNvSpPr/>
          <p:nvPr/>
        </p:nvSpPr>
        <p:spPr>
          <a:xfrm>
            <a:off x="5266800" y="1426320"/>
            <a:ext cx="959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1"/>
          <p:cNvSpPr/>
          <p:nvPr/>
        </p:nvSpPr>
        <p:spPr>
          <a:xfrm>
            <a:off x="6355080" y="1426320"/>
            <a:ext cx="1462320" cy="40176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2"/>
          <p:cNvSpPr/>
          <p:nvPr/>
        </p:nvSpPr>
        <p:spPr>
          <a:xfrm>
            <a:off x="6409800" y="1426320"/>
            <a:ext cx="1370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3"/>
          <p:cNvSpPr/>
          <p:nvPr/>
        </p:nvSpPr>
        <p:spPr>
          <a:xfrm>
            <a:off x="274320" y="1874520"/>
            <a:ext cx="251388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4"/>
          <p:cNvSpPr/>
          <p:nvPr/>
        </p:nvSpPr>
        <p:spPr>
          <a:xfrm>
            <a:off x="329040" y="1874520"/>
            <a:ext cx="2422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GEC (граматика)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25"/>
          <p:cNvSpPr/>
          <p:nvPr/>
        </p:nvSpPr>
        <p:spPr>
          <a:xfrm>
            <a:off x="2880360" y="1874520"/>
            <a:ext cx="123372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6"/>
          <p:cNvSpPr/>
          <p:nvPr/>
        </p:nvSpPr>
        <p:spPr>
          <a:xfrm>
            <a:off x="2935080" y="1874520"/>
            <a:ext cx="1142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27"/>
          <p:cNvSpPr/>
          <p:nvPr/>
        </p:nvSpPr>
        <p:spPr>
          <a:xfrm>
            <a:off x="4206240" y="1874520"/>
            <a:ext cx="91368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8"/>
          <p:cNvSpPr/>
          <p:nvPr/>
        </p:nvSpPr>
        <p:spPr>
          <a:xfrm>
            <a:off x="4260960" y="1874520"/>
            <a:ext cx="822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9"/>
          <p:cNvSpPr/>
          <p:nvPr/>
        </p:nvSpPr>
        <p:spPr>
          <a:xfrm>
            <a:off x="5212080" y="1874520"/>
            <a:ext cx="105084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0"/>
          <p:cNvSpPr/>
          <p:nvPr/>
        </p:nvSpPr>
        <p:spPr>
          <a:xfrm>
            <a:off x="5266800" y="1874520"/>
            <a:ext cx="959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31"/>
          <p:cNvSpPr/>
          <p:nvPr/>
        </p:nvSpPr>
        <p:spPr>
          <a:xfrm>
            <a:off x="6355080" y="1874520"/>
            <a:ext cx="1462320" cy="40176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2"/>
          <p:cNvSpPr/>
          <p:nvPr/>
        </p:nvSpPr>
        <p:spPr>
          <a:xfrm>
            <a:off x="6409800" y="1874520"/>
            <a:ext cx="1370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33"/>
          <p:cNvSpPr/>
          <p:nvPr/>
        </p:nvSpPr>
        <p:spPr>
          <a:xfrm>
            <a:off x="274320" y="2322720"/>
            <a:ext cx="251388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34"/>
          <p:cNvSpPr/>
          <p:nvPr/>
        </p:nvSpPr>
        <p:spPr>
          <a:xfrm>
            <a:off x="329040" y="2322720"/>
            <a:ext cx="2422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Адаптивний алгоритм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5"/>
          <p:cNvSpPr/>
          <p:nvPr/>
        </p:nvSpPr>
        <p:spPr>
          <a:xfrm>
            <a:off x="2880360" y="2322720"/>
            <a:ext cx="123372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6"/>
          <p:cNvSpPr/>
          <p:nvPr/>
        </p:nvSpPr>
        <p:spPr>
          <a:xfrm>
            <a:off x="2935080" y="2322720"/>
            <a:ext cx="1142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37"/>
          <p:cNvSpPr/>
          <p:nvPr/>
        </p:nvSpPr>
        <p:spPr>
          <a:xfrm>
            <a:off x="4206240" y="2322720"/>
            <a:ext cx="91368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38"/>
          <p:cNvSpPr/>
          <p:nvPr/>
        </p:nvSpPr>
        <p:spPr>
          <a:xfrm>
            <a:off x="4260960" y="2322720"/>
            <a:ext cx="822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9"/>
          <p:cNvSpPr/>
          <p:nvPr/>
        </p:nvSpPr>
        <p:spPr>
          <a:xfrm>
            <a:off x="5212080" y="2322720"/>
            <a:ext cx="105084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40"/>
          <p:cNvSpPr/>
          <p:nvPr/>
        </p:nvSpPr>
        <p:spPr>
          <a:xfrm>
            <a:off x="5266800" y="2322720"/>
            <a:ext cx="959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41"/>
          <p:cNvSpPr/>
          <p:nvPr/>
        </p:nvSpPr>
        <p:spPr>
          <a:xfrm>
            <a:off x="6355080" y="2322720"/>
            <a:ext cx="1462320" cy="40176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2"/>
          <p:cNvSpPr/>
          <p:nvPr/>
        </p:nvSpPr>
        <p:spPr>
          <a:xfrm>
            <a:off x="6409800" y="2322720"/>
            <a:ext cx="1370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3"/>
          <p:cNvSpPr/>
          <p:nvPr/>
        </p:nvSpPr>
        <p:spPr>
          <a:xfrm>
            <a:off x="274320" y="2770560"/>
            <a:ext cx="251388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4"/>
          <p:cNvSpPr/>
          <p:nvPr/>
        </p:nvSpPr>
        <p:spPr>
          <a:xfrm>
            <a:off x="329040" y="2770560"/>
            <a:ext cx="2422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Мультилiнгвальнiсть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45"/>
          <p:cNvSpPr/>
          <p:nvPr/>
        </p:nvSpPr>
        <p:spPr>
          <a:xfrm>
            <a:off x="2880360" y="2770560"/>
            <a:ext cx="123372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6"/>
          <p:cNvSpPr/>
          <p:nvPr/>
        </p:nvSpPr>
        <p:spPr>
          <a:xfrm>
            <a:off x="2935080" y="2770560"/>
            <a:ext cx="1142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47"/>
          <p:cNvSpPr/>
          <p:nvPr/>
        </p:nvSpPr>
        <p:spPr>
          <a:xfrm>
            <a:off x="4206240" y="2770560"/>
            <a:ext cx="91368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48"/>
          <p:cNvSpPr/>
          <p:nvPr/>
        </p:nvSpPr>
        <p:spPr>
          <a:xfrm>
            <a:off x="4260960" y="2770560"/>
            <a:ext cx="822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49"/>
          <p:cNvSpPr/>
          <p:nvPr/>
        </p:nvSpPr>
        <p:spPr>
          <a:xfrm>
            <a:off x="5212080" y="2770560"/>
            <a:ext cx="105084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50"/>
          <p:cNvSpPr/>
          <p:nvPr/>
        </p:nvSpPr>
        <p:spPr>
          <a:xfrm>
            <a:off x="5266800" y="2770560"/>
            <a:ext cx="959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51"/>
          <p:cNvSpPr/>
          <p:nvPr/>
        </p:nvSpPr>
        <p:spPr>
          <a:xfrm>
            <a:off x="6355080" y="2770560"/>
            <a:ext cx="1462320" cy="40176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2"/>
          <p:cNvSpPr/>
          <p:nvPr/>
        </p:nvSpPr>
        <p:spPr>
          <a:xfrm>
            <a:off x="6409800" y="2770560"/>
            <a:ext cx="1370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(4 мови)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53"/>
          <p:cNvSpPr/>
          <p:nvPr/>
        </p:nvSpPr>
        <p:spPr>
          <a:xfrm>
            <a:off x="274320" y="3218760"/>
            <a:ext cx="251388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4"/>
          <p:cNvSpPr/>
          <p:nvPr/>
        </p:nvSpPr>
        <p:spPr>
          <a:xfrm>
            <a:off x="329040" y="3218760"/>
            <a:ext cx="2422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Open Source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55"/>
          <p:cNvSpPr/>
          <p:nvPr/>
        </p:nvSpPr>
        <p:spPr>
          <a:xfrm>
            <a:off x="2880360" y="3218760"/>
            <a:ext cx="123372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56"/>
          <p:cNvSpPr/>
          <p:nvPr/>
        </p:nvSpPr>
        <p:spPr>
          <a:xfrm>
            <a:off x="2935080" y="3218760"/>
            <a:ext cx="1142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57"/>
          <p:cNvSpPr/>
          <p:nvPr/>
        </p:nvSpPr>
        <p:spPr>
          <a:xfrm>
            <a:off x="4206240" y="3218760"/>
            <a:ext cx="91368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8"/>
          <p:cNvSpPr/>
          <p:nvPr/>
        </p:nvSpPr>
        <p:spPr>
          <a:xfrm>
            <a:off x="4260960" y="3218760"/>
            <a:ext cx="822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59"/>
          <p:cNvSpPr/>
          <p:nvPr/>
        </p:nvSpPr>
        <p:spPr>
          <a:xfrm>
            <a:off x="5212080" y="3218760"/>
            <a:ext cx="105084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60"/>
          <p:cNvSpPr/>
          <p:nvPr/>
        </p:nvSpPr>
        <p:spPr>
          <a:xfrm>
            <a:off x="5266800" y="3218760"/>
            <a:ext cx="959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61"/>
          <p:cNvSpPr/>
          <p:nvPr/>
        </p:nvSpPr>
        <p:spPr>
          <a:xfrm>
            <a:off x="6355080" y="3218760"/>
            <a:ext cx="1462320" cy="40176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62"/>
          <p:cNvSpPr/>
          <p:nvPr/>
        </p:nvSpPr>
        <p:spPr>
          <a:xfrm>
            <a:off x="6409800" y="3218760"/>
            <a:ext cx="1370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63"/>
          <p:cNvSpPr/>
          <p:nvPr/>
        </p:nvSpPr>
        <p:spPr>
          <a:xfrm>
            <a:off x="274320" y="3666600"/>
            <a:ext cx="251388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64"/>
          <p:cNvSpPr/>
          <p:nvPr/>
        </p:nvSpPr>
        <p:spPr>
          <a:xfrm>
            <a:off x="329040" y="3666600"/>
            <a:ext cx="2422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Безкоштовно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65"/>
          <p:cNvSpPr/>
          <p:nvPr/>
        </p:nvSpPr>
        <p:spPr>
          <a:xfrm>
            <a:off x="2880360" y="3666600"/>
            <a:ext cx="123372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6"/>
          <p:cNvSpPr/>
          <p:nvPr/>
        </p:nvSpPr>
        <p:spPr>
          <a:xfrm>
            <a:off x="2935080" y="3666600"/>
            <a:ext cx="1142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!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67"/>
          <p:cNvSpPr/>
          <p:nvPr/>
        </p:nvSpPr>
        <p:spPr>
          <a:xfrm>
            <a:off x="4206240" y="3666600"/>
            <a:ext cx="91368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68"/>
          <p:cNvSpPr/>
          <p:nvPr/>
        </p:nvSpPr>
        <p:spPr>
          <a:xfrm>
            <a:off x="4260960" y="3666600"/>
            <a:ext cx="822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69"/>
          <p:cNvSpPr/>
          <p:nvPr/>
        </p:nvSpPr>
        <p:spPr>
          <a:xfrm>
            <a:off x="5212080" y="3666600"/>
            <a:ext cx="105084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70"/>
          <p:cNvSpPr/>
          <p:nvPr/>
        </p:nvSpPr>
        <p:spPr>
          <a:xfrm>
            <a:off x="5266800" y="3666600"/>
            <a:ext cx="959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71"/>
          <p:cNvSpPr/>
          <p:nvPr/>
        </p:nvSpPr>
        <p:spPr>
          <a:xfrm>
            <a:off x="6355080" y="3666600"/>
            <a:ext cx="1462320" cy="40176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72"/>
          <p:cNvSpPr/>
          <p:nvPr/>
        </p:nvSpPr>
        <p:spPr>
          <a:xfrm>
            <a:off x="6409800" y="3666600"/>
            <a:ext cx="1370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73"/>
          <p:cNvSpPr/>
          <p:nvPr/>
        </p:nvSpPr>
        <p:spPr>
          <a:xfrm>
            <a:off x="274320" y="4114800"/>
            <a:ext cx="251388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74"/>
          <p:cNvSpPr/>
          <p:nvPr/>
        </p:nvSpPr>
        <p:spPr>
          <a:xfrm>
            <a:off x="329040" y="4114800"/>
            <a:ext cx="2422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Крос-мовна перевiрка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75"/>
          <p:cNvSpPr/>
          <p:nvPr/>
        </p:nvSpPr>
        <p:spPr>
          <a:xfrm>
            <a:off x="2880360" y="4114800"/>
            <a:ext cx="123372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76"/>
          <p:cNvSpPr/>
          <p:nvPr/>
        </p:nvSpPr>
        <p:spPr>
          <a:xfrm>
            <a:off x="2935080" y="4114800"/>
            <a:ext cx="1142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77"/>
          <p:cNvSpPr/>
          <p:nvPr/>
        </p:nvSpPr>
        <p:spPr>
          <a:xfrm>
            <a:off x="4206240" y="4114800"/>
            <a:ext cx="91368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78"/>
          <p:cNvSpPr/>
          <p:nvPr/>
        </p:nvSpPr>
        <p:spPr>
          <a:xfrm>
            <a:off x="4260960" y="4114800"/>
            <a:ext cx="822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79"/>
          <p:cNvSpPr/>
          <p:nvPr/>
        </p:nvSpPr>
        <p:spPr>
          <a:xfrm>
            <a:off x="5212080" y="4114800"/>
            <a:ext cx="1050840" cy="40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80"/>
          <p:cNvSpPr/>
          <p:nvPr/>
        </p:nvSpPr>
        <p:spPr>
          <a:xfrm>
            <a:off x="5266800" y="4114800"/>
            <a:ext cx="959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81"/>
          <p:cNvSpPr/>
          <p:nvPr/>
        </p:nvSpPr>
        <p:spPr>
          <a:xfrm>
            <a:off x="6355080" y="4114800"/>
            <a:ext cx="1462320" cy="40176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82"/>
          <p:cNvSpPr/>
          <p:nvPr/>
        </p:nvSpPr>
        <p:spPr>
          <a:xfrm>
            <a:off x="6409800" y="4114800"/>
            <a:ext cx="1370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83"/>
          <p:cNvSpPr/>
          <p:nvPr/>
        </p:nvSpPr>
        <p:spPr>
          <a:xfrm>
            <a:off x="274320" y="4563000"/>
            <a:ext cx="251388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84"/>
          <p:cNvSpPr/>
          <p:nvPr/>
        </p:nvSpPr>
        <p:spPr>
          <a:xfrm>
            <a:off x="329040" y="4563000"/>
            <a:ext cx="2422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Статистичний аналiз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85"/>
          <p:cNvSpPr/>
          <p:nvPr/>
        </p:nvSpPr>
        <p:spPr>
          <a:xfrm>
            <a:off x="2880360" y="4563000"/>
            <a:ext cx="123372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86"/>
          <p:cNvSpPr/>
          <p:nvPr/>
        </p:nvSpPr>
        <p:spPr>
          <a:xfrm>
            <a:off x="2935080" y="4563000"/>
            <a:ext cx="1142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87"/>
          <p:cNvSpPr/>
          <p:nvPr/>
        </p:nvSpPr>
        <p:spPr>
          <a:xfrm>
            <a:off x="4206240" y="4563000"/>
            <a:ext cx="91368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88"/>
          <p:cNvSpPr/>
          <p:nvPr/>
        </p:nvSpPr>
        <p:spPr>
          <a:xfrm>
            <a:off x="4260960" y="4563000"/>
            <a:ext cx="822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89"/>
          <p:cNvSpPr/>
          <p:nvPr/>
        </p:nvSpPr>
        <p:spPr>
          <a:xfrm>
            <a:off x="5212080" y="4563000"/>
            <a:ext cx="1050840" cy="40176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90"/>
          <p:cNvSpPr/>
          <p:nvPr/>
        </p:nvSpPr>
        <p:spPr>
          <a:xfrm>
            <a:off x="5266800" y="4563000"/>
            <a:ext cx="959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91"/>
          <p:cNvSpPr/>
          <p:nvPr/>
        </p:nvSpPr>
        <p:spPr>
          <a:xfrm>
            <a:off x="6355080" y="4563000"/>
            <a:ext cx="1462320" cy="40176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92"/>
          <p:cNvSpPr/>
          <p:nvPr/>
        </p:nvSpPr>
        <p:spPr>
          <a:xfrm>
            <a:off x="6409800" y="4563000"/>
            <a:ext cx="1370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Висновки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2"/>
          <p:cNvSpPr/>
          <p:nvPr/>
        </p:nvSpPr>
        <p:spPr>
          <a:xfrm>
            <a:off x="320040" y="1069920"/>
            <a:ext cx="383400" cy="383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3"/>
          <p:cNvSpPr/>
          <p:nvPr/>
        </p:nvSpPr>
        <p:spPr>
          <a:xfrm>
            <a:off x="320040" y="10699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4"/>
          <p:cNvSpPr/>
          <p:nvPr/>
        </p:nvSpPr>
        <p:spPr>
          <a:xfrm>
            <a:off x="822960" y="960120"/>
            <a:ext cx="8046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Розроблено IMLLS — веб-тренажер для 4 мов (EN, UK, ES, KO) з 8-кроковим дидактичним алгоритмом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5"/>
          <p:cNvSpPr/>
          <p:nvPr/>
        </p:nvSpPr>
        <p:spPr>
          <a:xfrm>
            <a:off x="320040" y="1755720"/>
            <a:ext cx="383400" cy="383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6"/>
          <p:cNvSpPr/>
          <p:nvPr/>
        </p:nvSpPr>
        <p:spPr>
          <a:xfrm>
            <a:off x="320040" y="17557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822960" y="1645920"/>
            <a:ext cx="8046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Реалiзована крос-мовна перевiрка вимови через Whisper (tiny, 39M) без донавчання пiд конкретну мову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8"/>
          <p:cNvSpPr/>
          <p:nvPr/>
        </p:nvSpPr>
        <p:spPr>
          <a:xfrm>
            <a:off x="320040" y="2441520"/>
            <a:ext cx="383400" cy="383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9"/>
          <p:cNvSpPr/>
          <p:nvPr/>
        </p:nvSpPr>
        <p:spPr>
          <a:xfrm>
            <a:off x="320040" y="24415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0"/>
          <p:cNvSpPr/>
          <p:nvPr/>
        </p:nvSpPr>
        <p:spPr>
          <a:xfrm>
            <a:off x="822960" y="2331720"/>
            <a:ext cx="8046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Навчено та опублiковано 3 GEC-моделi: EN (BLEU +16.53), ES (+60.32), KO (+45.25)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1"/>
          <p:cNvSpPr/>
          <p:nvPr/>
        </p:nvSpPr>
        <p:spPr>
          <a:xfrm>
            <a:off x="320040" y="3127320"/>
            <a:ext cx="383400" cy="383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2"/>
          <p:cNvSpPr/>
          <p:nvPr/>
        </p:nvSpPr>
        <p:spPr>
          <a:xfrm>
            <a:off x="320040" y="3127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3"/>
          <p:cNvSpPr/>
          <p:nvPr/>
        </p:nvSpPr>
        <p:spPr>
          <a:xfrm>
            <a:off x="822960" y="3017520"/>
            <a:ext cx="8046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Виявлено обмеження BLEU на прикладi UK-моделi (BLEU=84.86, реальна якiсть 12.5%) — Goodhart's Law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4"/>
          <p:cNvSpPr/>
          <p:nvPr/>
        </p:nvSpPr>
        <p:spPr>
          <a:xfrm>
            <a:off x="320040" y="3813120"/>
            <a:ext cx="383400" cy="383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5"/>
          <p:cNvSpPr/>
          <p:nvPr/>
        </p:nvSpPr>
        <p:spPr>
          <a:xfrm>
            <a:off x="320040" y="38131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6"/>
          <p:cNvSpPr/>
          <p:nvPr/>
        </p:nvSpPr>
        <p:spPr>
          <a:xfrm>
            <a:off x="822960" y="3703320"/>
            <a:ext cx="8046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Адаптивна система (RandomForest) маршрутизує навчання за 3 персоналiзованими маршрутами пiсля 25+ взаємодiй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7"/>
          <p:cNvSpPr/>
          <p:nvPr/>
        </p:nvSpPr>
        <p:spPr>
          <a:xfrm>
            <a:off x="320040" y="4498920"/>
            <a:ext cx="383400" cy="383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8"/>
          <p:cNvSpPr/>
          <p:nvPr/>
        </p:nvSpPr>
        <p:spPr>
          <a:xfrm>
            <a:off x="320040" y="44989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9"/>
          <p:cNvSpPr/>
          <p:nvPr/>
        </p:nvSpPr>
        <p:spPr>
          <a:xfrm>
            <a:off x="822960" y="4389120"/>
            <a:ext cx="8046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Welch t-test: H0 не вiдхиляється (p=0.40) через малу вибiрку, але Dmean=+4.5% пiдтверджує тенденцiю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"/>
          <p:cNvSpPr/>
          <p:nvPr/>
        </p:nvSpPr>
        <p:spPr>
          <a:xfrm>
            <a:off x="164520" y="0"/>
            <a:ext cx="54000" cy="514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"/>
          <p:cNvSpPr/>
          <p:nvPr/>
        </p:nvSpPr>
        <p:spPr>
          <a:xfrm>
            <a:off x="457200" y="54864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Дякую за увагу!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"/>
          <p:cNvSpPr/>
          <p:nvPr/>
        </p:nvSpPr>
        <p:spPr>
          <a:xfrm>
            <a:off x="457200" y="1600200"/>
            <a:ext cx="5485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Перспективи подальших дослiджень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4"/>
          <p:cNvSpPr/>
          <p:nvPr/>
        </p:nvSpPr>
        <p:spPr>
          <a:xfrm>
            <a:off x="457200" y="2084760"/>
            <a:ext cx="5485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Збiльшення вибiрки учнiв для статистичного пiдтвердження H1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5"/>
          <p:cNvSpPr/>
          <p:nvPr/>
        </p:nvSpPr>
        <p:spPr>
          <a:xfrm>
            <a:off x="457200" y="2560320"/>
            <a:ext cx="5485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Покращення Ukrainian GEC на морфологiчних помилках (вiдмiнювання, узгодження)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6"/>
          <p:cNvSpPr/>
          <p:nvPr/>
        </p:nvSpPr>
        <p:spPr>
          <a:xfrm>
            <a:off x="457200" y="3035880"/>
            <a:ext cx="5485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Фонемна перевiрка вимови (GOP) з Montreal Forced Aligner для EN та UK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7"/>
          <p:cNvSpPr/>
          <p:nvPr/>
        </p:nvSpPr>
        <p:spPr>
          <a:xfrm>
            <a:off x="457200" y="3511440"/>
            <a:ext cx="5485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Розширення до 8+ мов (PL, DE, FR, AR)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8"/>
          <p:cNvSpPr/>
          <p:nvPr/>
        </p:nvSpPr>
        <p:spPr>
          <a:xfrm>
            <a:off x="457200" y="3986640"/>
            <a:ext cx="5485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Мобiльний застосунок (React Native / Flutter)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9"/>
          <p:cNvSpPr/>
          <p:nvPr/>
        </p:nvSpPr>
        <p:spPr>
          <a:xfrm>
            <a:off x="6400800" y="1600200"/>
            <a:ext cx="2468160" cy="301680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0"/>
          <p:cNvSpPr/>
          <p:nvPr/>
        </p:nvSpPr>
        <p:spPr>
          <a:xfrm>
            <a:off x="6492240" y="1691640"/>
            <a:ext cx="2285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Ресурси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1"/>
          <p:cNvSpPr/>
          <p:nvPr/>
        </p:nvSpPr>
        <p:spPr>
          <a:xfrm>
            <a:off x="6492240" y="2084760"/>
            <a:ext cx="2285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HuggingFace: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natashasms/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2"/>
          <p:cNvSpPr/>
          <p:nvPr/>
        </p:nvSpPr>
        <p:spPr>
          <a:xfrm>
            <a:off x="6492240" y="2523600"/>
            <a:ext cx="2285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en-gec-model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(T5-small)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3"/>
          <p:cNvSpPr/>
          <p:nvPr/>
        </p:nvSpPr>
        <p:spPr>
          <a:xfrm>
            <a:off x="6492240" y="2962800"/>
            <a:ext cx="2285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es-gec-model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(mT5-small)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4"/>
          <p:cNvSpPr/>
          <p:nvPr/>
        </p:nvSpPr>
        <p:spPr>
          <a:xfrm>
            <a:off x="6492240" y="3401640"/>
            <a:ext cx="2285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ko-gec-model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(mT5-small)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5"/>
          <p:cNvSpPr/>
          <p:nvPr/>
        </p:nvSpPr>
        <p:spPr>
          <a:xfrm>
            <a:off x="6492240" y="3840480"/>
            <a:ext cx="2285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Streamlit: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IMLLS App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6"/>
          <p:cNvSpPr/>
          <p:nvPr/>
        </p:nvSpPr>
        <p:spPr>
          <a:xfrm>
            <a:off x="457200" y="46634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Маслова Наталiя  2026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2026-06-16T14:09:56Z</dcterms:created>
  <dc:creator>Маслова Наталія</dc:creator>
  <dc:description/>
  <dc:language>en-US</dc:language>
  <cp:lastModifiedBy/>
  <dcterms:modified xsi:type="dcterms:W3CDTF">2026-06-17T14:30:49Z</dcterms:modified>
  <cp:revision>3</cp:revision>
  <dc:subject>PptxGenJS Presentation</dc:subject>
  <dc:title>IMLLS — Захист магістерської роботи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